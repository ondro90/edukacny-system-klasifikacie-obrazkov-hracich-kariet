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A3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9329" autoAdjust="0"/>
  </p:normalViewPr>
  <p:slideViewPr>
    <p:cSldViewPr snapToGrid="0" snapToObjects="1">
      <p:cViewPr varScale="1">
        <p:scale>
          <a:sx n="132" d="100"/>
          <a:sy n="132" d="100"/>
        </p:scale>
        <p:origin x="10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sk-SK"/>
  <c:roundedCorners val="1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r>
              <a:rPr lang="sk-SK" sz="900" b="0" i="0" u="none" strike="noStrike">
                <a:solidFill>
                  <a:srgbClr val="94A3B8"/>
                </a:solidFill>
                <a:latin typeface="Arial"/>
              </a:rPr>
              <a:t>Priebeh tréningu — Accuracy po epochách (reálne hodnoty z práce)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accuracy</c:v>
                </c:pt>
              </c:strCache>
            </c:strRef>
          </c:tx>
          <c:spPr>
            <a:ln w="31750" cap="flat">
              <a:solidFill>
                <a:srgbClr val="00C8E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C8E0"/>
              </a:solidFill>
              <a:ln w="9525" cap="flat">
                <a:solidFill>
                  <a:srgbClr val="00C8E0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0.1898</c:v>
                </c:pt>
                <c:pt idx="1">
                  <c:v>0.38179999999999997</c:v>
                </c:pt>
                <c:pt idx="2">
                  <c:v>0.47899999999999998</c:v>
                </c:pt>
                <c:pt idx="3">
                  <c:v>0.54549999999999998</c:v>
                </c:pt>
                <c:pt idx="4">
                  <c:v>0.59560000000000002</c:v>
                </c:pt>
                <c:pt idx="5">
                  <c:v>0.63080000000000003</c:v>
                </c:pt>
                <c:pt idx="6">
                  <c:v>0.66120000000000001</c:v>
                </c:pt>
                <c:pt idx="7">
                  <c:v>0.68440000000000001</c:v>
                </c:pt>
                <c:pt idx="8">
                  <c:v>0.70230000000000004</c:v>
                </c:pt>
                <c:pt idx="9">
                  <c:v>0.73070000000000002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F020-407C-AE57-5D2A6ECCF47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 accuracy</c:v>
                </c:pt>
              </c:strCache>
            </c:strRef>
          </c:tx>
          <c:spPr>
            <a:ln w="31750" cap="flat">
              <a:solidFill>
                <a:srgbClr val="8B5CF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8B5CF6"/>
              </a:solidFill>
              <a:ln w="9525" cap="flat">
                <a:solidFill>
                  <a:srgbClr val="8B5CF6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0.43020000000000003</c:v>
                </c:pt>
                <c:pt idx="1">
                  <c:v>0.60750000000000004</c:v>
                </c:pt>
                <c:pt idx="2">
                  <c:v>0.68300000000000005</c:v>
                </c:pt>
                <c:pt idx="3">
                  <c:v>0.72829999999999995</c:v>
                </c:pt>
                <c:pt idx="4">
                  <c:v>0.78869999999999996</c:v>
                </c:pt>
                <c:pt idx="5">
                  <c:v>0.79239999999999999</c:v>
                </c:pt>
                <c:pt idx="6">
                  <c:v>0.80379999999999996</c:v>
                </c:pt>
                <c:pt idx="7">
                  <c:v>0.81130000000000002</c:v>
                </c:pt>
                <c:pt idx="8">
                  <c:v>0.8226</c:v>
                </c:pt>
                <c:pt idx="9">
                  <c:v>0.83399999999999996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F020-407C-AE57-5D2A6ECCF4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2633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8213A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18213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0358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5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8213A"/>
          </a:solidFill>
          <a:ln w="12700">
            <a:solidFill>
              <a:srgbClr val="18213A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" name="Shape 1"/>
          <p:cNvSpPr/>
          <p:nvPr/>
        </p:nvSpPr>
        <p:spPr>
          <a:xfrm>
            <a:off x="8229600" y="0"/>
            <a:ext cx="914400" cy="5143500"/>
          </a:xfrm>
          <a:prstGeom prst="rect">
            <a:avLst/>
          </a:prstGeom>
          <a:solidFill>
            <a:srgbClr val="1E2B47"/>
          </a:solidFill>
          <a:ln w="12700">
            <a:solidFill>
              <a:srgbClr val="1E2B47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5" name="Text 3"/>
          <p:cNvSpPr/>
          <p:nvPr/>
        </p:nvSpPr>
        <p:spPr>
          <a:xfrm>
            <a:off x="6812280" y="365760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1E3A5F"/>
                </a:solidFill>
              </a:rPr>
              <a:t>♠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812280" y="1481328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2A1A3A"/>
                </a:solidFill>
              </a:rPr>
              <a:t>♥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812280" y="2596896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1E3A5F"/>
                </a:solidFill>
              </a:rPr>
              <a:t>♦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812280" y="3712464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2A1A3A"/>
                </a:solidFill>
              </a:rPr>
              <a:t>♣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02336" y="50292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C8E0"/>
                </a:solidFill>
              </a:rPr>
              <a:t>VITA ACADEMY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02336" y="914917"/>
            <a:ext cx="6035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Vývoj aplikácie na</a:t>
            </a:r>
            <a:endParaRPr lang="en-US" sz="3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rozpoznávanie hracích</a:t>
            </a:r>
            <a:endParaRPr lang="en-US" sz="3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kariet pomocou CNN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402335" y="3246119"/>
            <a:ext cx="3858379" cy="45719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3" name="Text 11"/>
          <p:cNvSpPr/>
          <p:nvPr/>
        </p:nvSpPr>
        <p:spPr>
          <a:xfrm>
            <a:off x="402336" y="3364992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Mgr. Ing. Ondrej Jelenovič, MBA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02336" y="3639312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MSc Umelá Inteligencia a Strojové Učenie  ·  VITA ACADEMY  ·  2026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02336" y="3877056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94A3B8"/>
                </a:solidFill>
              </a:rPr>
              <a:t>Vedúci: RNDr. PhDr. Ing. Mgr. Miroslav Reiter, DBA, MSc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5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8E0"/>
                </a:solidFill>
              </a:rPr>
              <a:t>PREHĽAD PREZENTÁCIE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Štruktúra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444752"/>
            <a:ext cx="4160520" cy="1024128"/>
          </a:xfrm>
          <a:prstGeom prst="rect">
            <a:avLst/>
          </a:prstGeom>
          <a:solidFill>
            <a:srgbClr val="18213A"/>
          </a:solidFill>
          <a:ln w="9525">
            <a:solidFill>
              <a:srgbClr val="263355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6" name="Shape 4"/>
          <p:cNvSpPr/>
          <p:nvPr/>
        </p:nvSpPr>
        <p:spPr>
          <a:xfrm>
            <a:off x="548640" y="1682496"/>
            <a:ext cx="548640" cy="548640"/>
          </a:xfrm>
          <a:prstGeom prst="ellipse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7" name="Text 5"/>
          <p:cNvSpPr/>
          <p:nvPr/>
        </p:nvSpPr>
        <p:spPr>
          <a:xfrm>
            <a:off x="548640" y="168249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523"/>
                </a:solidFill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16152" y="155448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Ciele práce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16152" y="1901952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Hlavný cieľ a 7 čiastkových cieľov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73168" y="1444752"/>
            <a:ext cx="4160520" cy="1024128"/>
          </a:xfrm>
          <a:prstGeom prst="rect">
            <a:avLst/>
          </a:prstGeom>
          <a:solidFill>
            <a:srgbClr val="18213A"/>
          </a:solidFill>
          <a:ln w="9525">
            <a:solidFill>
              <a:srgbClr val="263355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1" name="Shape 9"/>
          <p:cNvSpPr/>
          <p:nvPr/>
        </p:nvSpPr>
        <p:spPr>
          <a:xfrm>
            <a:off x="4910328" y="1682496"/>
            <a:ext cx="548640" cy="548640"/>
          </a:xfrm>
          <a:prstGeom prst="ellipse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2" name="Text 10"/>
          <p:cNvSpPr/>
          <p:nvPr/>
        </p:nvSpPr>
        <p:spPr>
          <a:xfrm>
            <a:off x="4910328" y="168249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523"/>
                </a:solidFill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77840" y="155448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Projekt a problém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77840" y="1901952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 err="1">
                <a:solidFill>
                  <a:srgbClr val="94A3B8"/>
                </a:solidFill>
              </a:rPr>
              <a:t>Kontext</a:t>
            </a:r>
            <a:r>
              <a:rPr lang="en-US" sz="950" dirty="0">
                <a:solidFill>
                  <a:srgbClr val="94A3B8"/>
                </a:solidFill>
              </a:rPr>
              <a:t> · </a:t>
            </a:r>
            <a:r>
              <a:rPr lang="en-US" sz="950" dirty="0" err="1">
                <a:solidFill>
                  <a:srgbClr val="94A3B8"/>
                </a:solidFill>
              </a:rPr>
              <a:t>motivácia</a:t>
            </a:r>
            <a:r>
              <a:rPr lang="en-US" sz="950" dirty="0">
                <a:solidFill>
                  <a:srgbClr val="94A3B8"/>
                </a:solidFill>
              </a:rPr>
              <a:t> · tri kľúčové problémy vo vzdelávaní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2633472"/>
            <a:ext cx="4160520" cy="1024128"/>
          </a:xfrm>
          <a:prstGeom prst="rect">
            <a:avLst/>
          </a:prstGeom>
          <a:solidFill>
            <a:srgbClr val="18213A"/>
          </a:solidFill>
          <a:ln w="9525">
            <a:solidFill>
              <a:srgbClr val="263355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6" name="Shape 14"/>
          <p:cNvSpPr/>
          <p:nvPr/>
        </p:nvSpPr>
        <p:spPr>
          <a:xfrm>
            <a:off x="548640" y="2871216"/>
            <a:ext cx="548640" cy="5486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7" name="Text 15"/>
          <p:cNvSpPr/>
          <p:nvPr/>
        </p:nvSpPr>
        <p:spPr>
          <a:xfrm>
            <a:off x="548640" y="287121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523"/>
                </a:solidFill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16152" y="274320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IT Stratégia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16152" y="3090672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KPI · KRI · PESTEL · SWOT · SO stratégia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73168" y="2633472"/>
            <a:ext cx="4160520" cy="1024128"/>
          </a:xfrm>
          <a:prstGeom prst="rect">
            <a:avLst/>
          </a:prstGeom>
          <a:solidFill>
            <a:srgbClr val="18213A"/>
          </a:solidFill>
          <a:ln w="9525">
            <a:solidFill>
              <a:srgbClr val="263355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1" name="Shape 19"/>
          <p:cNvSpPr/>
          <p:nvPr/>
        </p:nvSpPr>
        <p:spPr>
          <a:xfrm>
            <a:off x="4910328" y="2871216"/>
            <a:ext cx="548640" cy="5486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2" name="Text 20"/>
          <p:cNvSpPr/>
          <p:nvPr/>
        </p:nvSpPr>
        <p:spPr>
          <a:xfrm>
            <a:off x="4910328" y="287121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523"/>
                </a:solidFill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77840" y="274320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Dataset a CNN model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77840" y="3090672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sk-SK" sz="950" dirty="0" err="1">
                <a:solidFill>
                  <a:srgbClr val="94A3B8"/>
                </a:solidFill>
              </a:rPr>
              <a:t>Dataset</a:t>
            </a:r>
            <a:r>
              <a:rPr lang="en-US" sz="950" dirty="0">
                <a:solidFill>
                  <a:srgbClr val="94A3B8"/>
                </a:solidFill>
              </a:rPr>
              <a:t> · </a:t>
            </a:r>
            <a:r>
              <a:rPr lang="sk-SK" sz="950" dirty="0">
                <a:solidFill>
                  <a:srgbClr val="94A3B8"/>
                </a:solidFill>
              </a:rPr>
              <a:t>CNN model s presnou architektúrou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1480" y="3822192"/>
            <a:ext cx="4160520" cy="1024128"/>
          </a:xfrm>
          <a:prstGeom prst="rect">
            <a:avLst/>
          </a:prstGeom>
          <a:solidFill>
            <a:srgbClr val="18213A"/>
          </a:solidFill>
          <a:ln w="9525">
            <a:solidFill>
              <a:srgbClr val="263355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6" name="Shape 24"/>
          <p:cNvSpPr/>
          <p:nvPr/>
        </p:nvSpPr>
        <p:spPr>
          <a:xfrm>
            <a:off x="548640" y="4059936"/>
            <a:ext cx="548640" cy="5486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7" name="Text 25"/>
          <p:cNvSpPr/>
          <p:nvPr/>
        </p:nvSpPr>
        <p:spPr>
          <a:xfrm>
            <a:off x="548640" y="40599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523"/>
                </a:solidFill>
              </a:rPr>
              <a:t>05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16152" y="393192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GUI aplikácia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16152" y="4279392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Tréning · Grafy · Confusion matrix · Precision/Recall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73168" y="3822192"/>
            <a:ext cx="4160520" cy="1024128"/>
          </a:xfrm>
          <a:prstGeom prst="rect">
            <a:avLst/>
          </a:prstGeom>
          <a:solidFill>
            <a:srgbClr val="18213A"/>
          </a:solidFill>
          <a:ln w="9525">
            <a:solidFill>
              <a:srgbClr val="263355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1" name="Shape 29"/>
          <p:cNvSpPr/>
          <p:nvPr/>
        </p:nvSpPr>
        <p:spPr>
          <a:xfrm>
            <a:off x="4910328" y="4059936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2" name="Text 30"/>
          <p:cNvSpPr/>
          <p:nvPr/>
        </p:nvSpPr>
        <p:spPr>
          <a:xfrm>
            <a:off x="4910328" y="40599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523"/>
                </a:solidFill>
              </a:rPr>
              <a:t>06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577840" y="393192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Výsledky a zhrnutie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77840" y="4279392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Test accuracy 81,13 % · KPI splnené · Odporúčania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5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8E0"/>
                </a:solidFill>
              </a:rPr>
              <a:t>1. CIELE PRÁCE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Čo sme chceli dosiahnuť?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389888"/>
            <a:ext cx="8321040" cy="804672"/>
          </a:xfrm>
          <a:prstGeom prst="rect">
            <a:avLst/>
          </a:prstGeom>
          <a:solidFill>
            <a:srgbClr val="0D2038"/>
          </a:solidFill>
          <a:ln w="1905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6" name="Shape 4"/>
          <p:cNvSpPr/>
          <p:nvPr/>
        </p:nvSpPr>
        <p:spPr>
          <a:xfrm>
            <a:off x="411480" y="1389888"/>
            <a:ext cx="82296" cy="804672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7" name="Text 5"/>
          <p:cNvSpPr/>
          <p:nvPr/>
        </p:nvSpPr>
        <p:spPr>
          <a:xfrm>
            <a:off x="585216" y="1408176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00C8E0"/>
                </a:solidFill>
              </a:rPr>
              <a:t>HLAVNÝ CIEĽ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85216" y="1609344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Navrhnúť IT stratégiu a implementovať edukačný systém rozpoznávania hracích kariet pomocou CNN — presnosť ≥ 80 %, klasifikácia &lt; 2 s na CPU, plne reprodukovateľné riešenie.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2359152"/>
            <a:ext cx="4160520" cy="585216"/>
          </a:xfrm>
          <a:prstGeom prst="rect">
            <a:avLst/>
          </a:prstGeom>
          <a:solidFill>
            <a:srgbClr val="18213A"/>
          </a:solidFill>
          <a:ln w="6350">
            <a:solidFill>
              <a:srgbClr val="263355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0" name="Shape 8"/>
          <p:cNvSpPr/>
          <p:nvPr/>
        </p:nvSpPr>
        <p:spPr>
          <a:xfrm>
            <a:off x="521208" y="2450592"/>
            <a:ext cx="402336" cy="402336"/>
          </a:xfrm>
          <a:prstGeom prst="ellipse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1" name="Text 9"/>
          <p:cNvSpPr/>
          <p:nvPr/>
        </p:nvSpPr>
        <p:spPr>
          <a:xfrm>
            <a:off x="521208" y="24505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523"/>
                </a:solidFill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24128" y="2395728"/>
            <a:ext cx="34472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Analýza možností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24128" y="2660904"/>
            <a:ext cx="34472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Využitie CNN v edukačných aplikáciách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3035808"/>
            <a:ext cx="4160520" cy="585216"/>
          </a:xfrm>
          <a:prstGeom prst="rect">
            <a:avLst/>
          </a:prstGeom>
          <a:solidFill>
            <a:srgbClr val="1E2B47"/>
          </a:solidFill>
          <a:ln w="6350">
            <a:solidFill>
              <a:srgbClr val="263355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5" name="Shape 13"/>
          <p:cNvSpPr/>
          <p:nvPr/>
        </p:nvSpPr>
        <p:spPr>
          <a:xfrm>
            <a:off x="521208" y="3127248"/>
            <a:ext cx="402336" cy="402336"/>
          </a:xfrm>
          <a:prstGeom prst="ellipse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6" name="Text 14"/>
          <p:cNvSpPr/>
          <p:nvPr/>
        </p:nvSpPr>
        <p:spPr>
          <a:xfrm>
            <a:off x="521208" y="31272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523"/>
                </a:solidFill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24128" y="3072384"/>
            <a:ext cx="34472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Výber datasetu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24128" y="3337560"/>
            <a:ext cx="34472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Kaggle Cards — 53 tried, 7 624 obrázkov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3712464"/>
            <a:ext cx="4160520" cy="585216"/>
          </a:xfrm>
          <a:prstGeom prst="rect">
            <a:avLst/>
          </a:prstGeom>
          <a:solidFill>
            <a:srgbClr val="18213A"/>
          </a:solidFill>
          <a:ln w="6350">
            <a:solidFill>
              <a:srgbClr val="263355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0" name="Shape 18"/>
          <p:cNvSpPr/>
          <p:nvPr/>
        </p:nvSpPr>
        <p:spPr>
          <a:xfrm>
            <a:off x="521208" y="3803904"/>
            <a:ext cx="402336" cy="402336"/>
          </a:xfrm>
          <a:prstGeom prst="ellipse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1" name="Text 19"/>
          <p:cNvSpPr/>
          <p:nvPr/>
        </p:nvSpPr>
        <p:spPr>
          <a:xfrm>
            <a:off x="521208" y="38039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523"/>
                </a:solidFill>
              </a:rPr>
              <a:t>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" y="3749040"/>
            <a:ext cx="34472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IT architektúra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24128" y="4014216"/>
            <a:ext cx="34472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Návrh systémovej architektúry a stratégie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1480" y="4389120"/>
            <a:ext cx="4160520" cy="585216"/>
          </a:xfrm>
          <a:prstGeom prst="rect">
            <a:avLst/>
          </a:prstGeom>
          <a:solidFill>
            <a:srgbClr val="1E2B47"/>
          </a:solidFill>
          <a:ln w="6350">
            <a:solidFill>
              <a:srgbClr val="263355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5" name="Shape 23"/>
          <p:cNvSpPr/>
          <p:nvPr/>
        </p:nvSpPr>
        <p:spPr>
          <a:xfrm>
            <a:off x="521208" y="4480560"/>
            <a:ext cx="402336" cy="402336"/>
          </a:xfrm>
          <a:prstGeom prst="ellipse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6" name="Text 24"/>
          <p:cNvSpPr/>
          <p:nvPr/>
        </p:nvSpPr>
        <p:spPr>
          <a:xfrm>
            <a:off x="521208" y="44805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523"/>
                </a:solidFill>
              </a:rPr>
              <a:t>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24128" y="4425696"/>
            <a:ext cx="34472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CNN model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24128" y="4690872"/>
            <a:ext cx="34472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Implementácia v TensorFlow/Keras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73168" y="2359152"/>
            <a:ext cx="4160520" cy="585216"/>
          </a:xfrm>
          <a:prstGeom prst="rect">
            <a:avLst/>
          </a:prstGeom>
          <a:solidFill>
            <a:srgbClr val="18213A"/>
          </a:solidFill>
          <a:ln w="6350">
            <a:solidFill>
              <a:srgbClr val="263355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0" name="Shape 28"/>
          <p:cNvSpPr/>
          <p:nvPr/>
        </p:nvSpPr>
        <p:spPr>
          <a:xfrm>
            <a:off x="4882896" y="2450592"/>
            <a:ext cx="402336" cy="40233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1" name="Text 29"/>
          <p:cNvSpPr/>
          <p:nvPr/>
        </p:nvSpPr>
        <p:spPr>
          <a:xfrm>
            <a:off x="4882896" y="24505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523"/>
                </a:solidFill>
              </a:rPr>
              <a:t>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385816" y="2395728"/>
            <a:ext cx="34472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Tréning &amp; vyhodnotenie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385816" y="2660904"/>
            <a:ext cx="34472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Accuracy, Confusion matrix, Precision/Recall/F1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73168" y="3035808"/>
            <a:ext cx="4160520" cy="585216"/>
          </a:xfrm>
          <a:prstGeom prst="rect">
            <a:avLst/>
          </a:prstGeom>
          <a:solidFill>
            <a:srgbClr val="1E2B47"/>
          </a:solidFill>
          <a:ln w="6350">
            <a:solidFill>
              <a:srgbClr val="263355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5" name="Shape 33"/>
          <p:cNvSpPr/>
          <p:nvPr/>
        </p:nvSpPr>
        <p:spPr>
          <a:xfrm>
            <a:off x="4882896" y="3127248"/>
            <a:ext cx="402336" cy="40233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6" name="Text 34"/>
          <p:cNvSpPr/>
          <p:nvPr/>
        </p:nvSpPr>
        <p:spPr>
          <a:xfrm>
            <a:off x="4882896" y="31272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523"/>
                </a:solidFill>
              </a:rPr>
              <a:t>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385816" y="3072384"/>
            <a:ext cx="34472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GUI aplikácia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385816" y="3337560"/>
            <a:ext cx="34472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Tkinter rozhranie bez nutnosti programovania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73168" y="3712464"/>
            <a:ext cx="4160520" cy="585216"/>
          </a:xfrm>
          <a:prstGeom prst="rect">
            <a:avLst/>
          </a:prstGeom>
          <a:solidFill>
            <a:srgbClr val="18213A"/>
          </a:solidFill>
          <a:ln w="6350">
            <a:solidFill>
              <a:srgbClr val="263355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40" name="Shape 38"/>
          <p:cNvSpPr/>
          <p:nvPr/>
        </p:nvSpPr>
        <p:spPr>
          <a:xfrm>
            <a:off x="4882896" y="3803904"/>
            <a:ext cx="402336" cy="40233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41" name="Text 39"/>
          <p:cNvSpPr/>
          <p:nvPr/>
        </p:nvSpPr>
        <p:spPr>
          <a:xfrm>
            <a:off x="4882896" y="38039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523"/>
                </a:solidFill>
              </a:rPr>
              <a:t>7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385816" y="3749040"/>
            <a:ext cx="34472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Zhodnotenie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385816" y="4014216"/>
            <a:ext cx="34472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Výsledky, limity a odporúčania pre rozvoj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5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8E0"/>
                </a:solidFill>
              </a:rPr>
              <a:t>2. PREDSTAVENIE PROJEKTU A PROBLÉMU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Prečo sme to robili — a čo sme vytvorili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4069080" cy="3520440"/>
          </a:xfrm>
          <a:prstGeom prst="rect">
            <a:avLst/>
          </a:prstGeom>
          <a:solidFill>
            <a:srgbClr val="18213A"/>
          </a:solidFill>
          <a:ln w="9525">
            <a:solidFill>
              <a:srgbClr val="263355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64008" cy="352044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7" name="Text 5"/>
          <p:cNvSpPr/>
          <p:nvPr/>
        </p:nvSpPr>
        <p:spPr>
          <a:xfrm>
            <a:off x="566928" y="14813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Čo sme vytvorili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1792" y="192024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</a:rPr>
              <a:t>Edukačný systém klasifikácie 53 tried hracích kariet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2496312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</a:rPr>
              <a:t>CNN model — Python, TensorFlow/</a:t>
            </a:r>
            <a:r>
              <a:rPr lang="en-US" sz="1000" dirty="0" err="1">
                <a:solidFill>
                  <a:srgbClr val="94A3B8"/>
                </a:solidFill>
              </a:rPr>
              <a:t>Keras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1792" y="3072384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</a:rPr>
              <a:t>GUI v Tkinter — tréning, grafy, confusion matrix, klasifikácia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" y="3648456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</a:rPr>
              <a:t>3 iterácie vývoja: model → GUI → pokročilé metriky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1792" y="4224528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</a:rPr>
              <a:t>Spustiteľné bez GPU na bežnom CPU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73168" y="148132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3 problémy vo vzdelávaní AI/ML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773168" y="1901952"/>
            <a:ext cx="4069080" cy="932688"/>
          </a:xfrm>
          <a:prstGeom prst="rect">
            <a:avLst/>
          </a:prstGeom>
          <a:solidFill>
            <a:srgbClr val="18213A"/>
          </a:solidFill>
          <a:ln w="9525">
            <a:solidFill>
              <a:srgbClr val="263355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5" name="Shape 13"/>
          <p:cNvSpPr/>
          <p:nvPr/>
        </p:nvSpPr>
        <p:spPr>
          <a:xfrm>
            <a:off x="4773168" y="1901952"/>
            <a:ext cx="64008" cy="9326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6" name="Text 14"/>
          <p:cNvSpPr/>
          <p:nvPr/>
        </p:nvSpPr>
        <p:spPr>
          <a:xfrm>
            <a:off x="4919472" y="195681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E0"/>
                </a:solidFill>
              </a:rPr>
              <a:t>Abstraktnosť pojmov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19472" y="2240280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Konvolúcia, gradient, backpropagation — bez vizuálnej ukážky ťažko pochopiteľné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73168" y="2953512"/>
            <a:ext cx="4069080" cy="932688"/>
          </a:xfrm>
          <a:prstGeom prst="rect">
            <a:avLst/>
          </a:prstGeom>
          <a:solidFill>
            <a:srgbClr val="1E2B47"/>
          </a:solidFill>
          <a:ln w="9525">
            <a:solidFill>
              <a:srgbClr val="263355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9" name="Shape 17"/>
          <p:cNvSpPr/>
          <p:nvPr/>
        </p:nvSpPr>
        <p:spPr>
          <a:xfrm>
            <a:off x="4773168" y="2953512"/>
            <a:ext cx="64008" cy="9326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0" name="Text 18"/>
          <p:cNvSpPr/>
          <p:nvPr/>
        </p:nvSpPr>
        <p:spPr>
          <a:xfrm>
            <a:off x="4919472" y="300837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E0"/>
                </a:solidFill>
              </a:rPr>
              <a:t>Dlhý čas k prvému výsledku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19472" y="3291840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Hodiny nastavení prostredia predtým, než študent uvidí prvú klasifikáciu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73168" y="4005072"/>
            <a:ext cx="4069080" cy="932688"/>
          </a:xfrm>
          <a:prstGeom prst="rect">
            <a:avLst/>
          </a:prstGeom>
          <a:solidFill>
            <a:srgbClr val="18213A"/>
          </a:solidFill>
          <a:ln w="9525">
            <a:solidFill>
              <a:srgbClr val="263355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3" name="Shape 21"/>
          <p:cNvSpPr/>
          <p:nvPr/>
        </p:nvSpPr>
        <p:spPr>
          <a:xfrm>
            <a:off x="4773168" y="4005072"/>
            <a:ext cx="64008" cy="9326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4" name="Text 22"/>
          <p:cNvSpPr/>
          <p:nvPr/>
        </p:nvSpPr>
        <p:spPr>
          <a:xfrm>
            <a:off x="4919472" y="405993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E0"/>
                </a:solidFill>
              </a:rPr>
              <a:t>Absencia spätnej väzby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19472" y="4343400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Terminálový text neukáže, kde model chybuje — confusion matrix áno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5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8E0"/>
                </a:solidFill>
              </a:rPr>
              <a:t>3. IT STRATÉGIA — KPI &amp; KRI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Merateľné ciele a identifikované riziká</a:t>
            </a:r>
            <a:endParaRPr lang="en-US" sz="2800" dirty="0"/>
          </a:p>
        </p:txBody>
      </p:sp>
      <p:grpSp>
        <p:nvGrpSpPr>
          <p:cNvPr id="53" name="Skupina 52">
            <a:extLst>
              <a:ext uri="{FF2B5EF4-FFF2-40B4-BE49-F238E27FC236}">
                <a16:creationId xmlns:a16="http://schemas.microsoft.com/office/drawing/2014/main" id="{F02A49A1-E399-2E26-DFE4-3F114D5FA54C}"/>
              </a:ext>
            </a:extLst>
          </p:cNvPr>
          <p:cNvGrpSpPr/>
          <p:nvPr/>
        </p:nvGrpSpPr>
        <p:grpSpPr>
          <a:xfrm>
            <a:off x="411480" y="1231115"/>
            <a:ext cx="8321040" cy="3108960"/>
            <a:chOff x="411480" y="1408176"/>
            <a:chExt cx="8321040" cy="3419856"/>
          </a:xfrm>
        </p:grpSpPr>
        <p:grpSp>
          <p:nvGrpSpPr>
            <p:cNvPr id="52" name="Skupina 51">
              <a:extLst>
                <a:ext uri="{FF2B5EF4-FFF2-40B4-BE49-F238E27FC236}">
                  <a16:creationId xmlns:a16="http://schemas.microsoft.com/office/drawing/2014/main" id="{F261CBA6-EB32-8660-BFC7-6D5FE20F6C76}"/>
                </a:ext>
              </a:extLst>
            </p:cNvPr>
            <p:cNvGrpSpPr/>
            <p:nvPr/>
          </p:nvGrpSpPr>
          <p:grpSpPr>
            <a:xfrm>
              <a:off x="411480" y="1408176"/>
              <a:ext cx="4069080" cy="347472"/>
              <a:chOff x="411480" y="1408176"/>
              <a:chExt cx="4069080" cy="347472"/>
            </a:xfrm>
          </p:grpSpPr>
          <p:sp>
            <p:nvSpPr>
              <p:cNvPr id="5" name="Shape 3"/>
              <p:cNvSpPr/>
              <p:nvPr/>
            </p:nvSpPr>
            <p:spPr>
              <a:xfrm>
                <a:off x="411480" y="1408176"/>
                <a:ext cx="4069080" cy="347472"/>
              </a:xfrm>
              <a:prstGeom prst="rect">
                <a:avLst/>
              </a:prstGeom>
              <a:solidFill>
                <a:srgbClr val="00C8E0"/>
              </a:solidFill>
              <a:ln w="12700">
                <a:solidFill>
                  <a:srgbClr val="00C8E0"/>
                </a:solidFill>
                <a:prstDash val="solid"/>
              </a:ln>
            </p:spPr>
            <p:txBody>
              <a:bodyPr/>
              <a:lstStyle/>
              <a:p>
                <a:endParaRPr lang="sk-SK"/>
              </a:p>
            </p:txBody>
          </p:sp>
          <p:sp>
            <p:nvSpPr>
              <p:cNvPr id="6" name="Text 4"/>
              <p:cNvSpPr/>
              <p:nvPr/>
            </p:nvSpPr>
            <p:spPr>
              <a:xfrm>
                <a:off x="502920" y="1408176"/>
                <a:ext cx="3886200" cy="34747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050" b="1" dirty="0">
                    <a:solidFill>
                      <a:srgbClr val="0F1523"/>
                    </a:solidFill>
                  </a:rPr>
                  <a:t>KPI – Kľúčové ukazovatele výkonnosti</a:t>
                </a:r>
                <a:endParaRPr lang="en-US" sz="1050" dirty="0"/>
              </a:p>
            </p:txBody>
          </p:sp>
        </p:grpSp>
        <p:grpSp>
          <p:nvGrpSpPr>
            <p:cNvPr id="45" name="Skupina 44">
              <a:extLst>
                <a:ext uri="{FF2B5EF4-FFF2-40B4-BE49-F238E27FC236}">
                  <a16:creationId xmlns:a16="http://schemas.microsoft.com/office/drawing/2014/main" id="{54F73036-7E5F-1415-6260-F53AAF803E2D}"/>
                </a:ext>
              </a:extLst>
            </p:cNvPr>
            <p:cNvGrpSpPr/>
            <p:nvPr/>
          </p:nvGrpSpPr>
          <p:grpSpPr>
            <a:xfrm>
              <a:off x="411480" y="1828800"/>
              <a:ext cx="4069080" cy="694944"/>
              <a:chOff x="411480" y="1828800"/>
              <a:chExt cx="4069080" cy="694944"/>
            </a:xfrm>
          </p:grpSpPr>
          <p:sp>
            <p:nvSpPr>
              <p:cNvPr id="7" name="Shape 5"/>
              <p:cNvSpPr/>
              <p:nvPr/>
            </p:nvSpPr>
            <p:spPr>
              <a:xfrm>
                <a:off x="411480" y="1828800"/>
                <a:ext cx="4069080" cy="694944"/>
              </a:xfrm>
              <a:prstGeom prst="rect">
                <a:avLst/>
              </a:prstGeom>
              <a:solidFill>
                <a:srgbClr val="18213A"/>
              </a:solidFill>
              <a:ln w="6350">
                <a:solidFill>
                  <a:srgbClr val="263355"/>
                </a:solidFill>
                <a:prstDash val="solid"/>
              </a:ln>
            </p:spPr>
            <p:txBody>
              <a:bodyPr/>
              <a:lstStyle/>
              <a:p>
                <a:endParaRPr lang="sk-SK"/>
              </a:p>
            </p:txBody>
          </p:sp>
          <p:sp>
            <p:nvSpPr>
              <p:cNvPr id="8" name="Text 6"/>
              <p:cNvSpPr/>
              <p:nvPr/>
            </p:nvSpPr>
            <p:spPr>
              <a:xfrm>
                <a:off x="548640" y="1865376"/>
                <a:ext cx="1920240" cy="2926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050" b="1" dirty="0">
                    <a:solidFill>
                      <a:srgbClr val="FFFFFF"/>
                    </a:solidFill>
                  </a:rPr>
                  <a:t>Presnosť klasifikácie</a:t>
                </a:r>
                <a:endParaRPr lang="en-US" sz="1050" dirty="0"/>
              </a:p>
            </p:txBody>
          </p:sp>
          <p:sp>
            <p:nvSpPr>
              <p:cNvPr id="9" name="Text 7"/>
              <p:cNvSpPr/>
              <p:nvPr/>
            </p:nvSpPr>
            <p:spPr>
              <a:xfrm>
                <a:off x="548640" y="2176272"/>
                <a:ext cx="1920240" cy="25603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sk-SK" sz="850" dirty="0">
                    <a:solidFill>
                      <a:srgbClr val="94A3B8"/>
                    </a:solidFill>
                  </a:rPr>
                  <a:t>Na</a:t>
                </a:r>
                <a:r>
                  <a:rPr lang="en-US" sz="850" dirty="0">
                    <a:solidFill>
                      <a:srgbClr val="94A3B8"/>
                    </a:solidFill>
                  </a:rPr>
                  <a:t> testovacej množine</a:t>
                </a:r>
                <a:endParaRPr lang="en-US" sz="850" dirty="0"/>
              </a:p>
            </p:txBody>
          </p:sp>
          <p:sp>
            <p:nvSpPr>
              <p:cNvPr id="10" name="Text 8"/>
              <p:cNvSpPr/>
              <p:nvPr/>
            </p:nvSpPr>
            <p:spPr>
              <a:xfrm>
                <a:off x="2377440" y="1959253"/>
                <a:ext cx="1097280" cy="347473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r">
                  <a:buNone/>
                </a:pPr>
                <a:r>
                  <a:rPr lang="en-US" sz="2000" b="1" dirty="0">
                    <a:solidFill>
                      <a:srgbClr val="00C8E0"/>
                    </a:solidFill>
                  </a:rPr>
                  <a:t>≥ 80 %</a:t>
                </a:r>
                <a:endParaRPr lang="en-US" sz="2000" dirty="0"/>
              </a:p>
            </p:txBody>
          </p:sp>
          <p:sp>
            <p:nvSpPr>
              <p:cNvPr id="11" name="Text 9"/>
              <p:cNvSpPr/>
              <p:nvPr/>
            </p:nvSpPr>
            <p:spPr>
              <a:xfrm>
                <a:off x="2514600" y="2231136"/>
                <a:ext cx="1737360" cy="2286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r">
                  <a:buNone/>
                </a:pPr>
                <a:r>
                  <a:rPr lang="en-US" sz="850" dirty="0">
                    <a:solidFill>
                      <a:srgbClr val="10B981"/>
                    </a:solidFill>
                  </a:rPr>
                  <a:t>→ 81,13 %</a:t>
                </a:r>
                <a:endParaRPr lang="en-US" sz="850" dirty="0"/>
              </a:p>
            </p:txBody>
          </p:sp>
        </p:grpSp>
        <p:grpSp>
          <p:nvGrpSpPr>
            <p:cNvPr id="46" name="Skupina 45">
              <a:extLst>
                <a:ext uri="{FF2B5EF4-FFF2-40B4-BE49-F238E27FC236}">
                  <a16:creationId xmlns:a16="http://schemas.microsoft.com/office/drawing/2014/main" id="{1872A6D0-E211-3718-BE76-AD4E8650F8FD}"/>
                </a:ext>
              </a:extLst>
            </p:cNvPr>
            <p:cNvGrpSpPr/>
            <p:nvPr/>
          </p:nvGrpSpPr>
          <p:grpSpPr>
            <a:xfrm>
              <a:off x="411480" y="2596896"/>
              <a:ext cx="4069080" cy="694944"/>
              <a:chOff x="411480" y="2596896"/>
              <a:chExt cx="4069080" cy="694944"/>
            </a:xfrm>
          </p:grpSpPr>
          <p:sp>
            <p:nvSpPr>
              <p:cNvPr id="12" name="Shape 10"/>
              <p:cNvSpPr/>
              <p:nvPr/>
            </p:nvSpPr>
            <p:spPr>
              <a:xfrm>
                <a:off x="411480" y="2596896"/>
                <a:ext cx="4069080" cy="694944"/>
              </a:xfrm>
              <a:prstGeom prst="rect">
                <a:avLst/>
              </a:prstGeom>
              <a:solidFill>
                <a:srgbClr val="1E2B47"/>
              </a:solidFill>
              <a:ln w="6350">
                <a:solidFill>
                  <a:srgbClr val="263355"/>
                </a:solidFill>
                <a:prstDash val="solid"/>
              </a:ln>
            </p:spPr>
            <p:txBody>
              <a:bodyPr/>
              <a:lstStyle/>
              <a:p>
                <a:endParaRPr lang="sk-SK"/>
              </a:p>
            </p:txBody>
          </p:sp>
          <p:sp>
            <p:nvSpPr>
              <p:cNvPr id="13" name="Text 11"/>
              <p:cNvSpPr/>
              <p:nvPr/>
            </p:nvSpPr>
            <p:spPr>
              <a:xfrm>
                <a:off x="548640" y="2633472"/>
                <a:ext cx="1920240" cy="2926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050" b="1" dirty="0">
                    <a:solidFill>
                      <a:srgbClr val="FFFFFF"/>
                    </a:solidFill>
                  </a:rPr>
                  <a:t>Čas klasifikácie</a:t>
                </a:r>
                <a:endParaRPr lang="en-US" sz="1050" dirty="0"/>
              </a:p>
            </p:txBody>
          </p:sp>
          <p:sp>
            <p:nvSpPr>
              <p:cNvPr id="14" name="Text 12"/>
              <p:cNvSpPr/>
              <p:nvPr/>
            </p:nvSpPr>
            <p:spPr>
              <a:xfrm>
                <a:off x="548640" y="2944368"/>
                <a:ext cx="1920240" cy="25603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sk-SK" sz="850" dirty="0">
                    <a:solidFill>
                      <a:srgbClr val="94A3B8"/>
                    </a:solidFill>
                  </a:rPr>
                  <a:t>N</a:t>
                </a:r>
                <a:r>
                  <a:rPr lang="en-US" sz="850" dirty="0">
                    <a:solidFill>
                      <a:srgbClr val="94A3B8"/>
                    </a:solidFill>
                  </a:rPr>
                  <a:t>a CPU bez GPU</a:t>
                </a:r>
                <a:endParaRPr lang="en-US" sz="850" dirty="0"/>
              </a:p>
            </p:txBody>
          </p:sp>
          <p:sp>
            <p:nvSpPr>
              <p:cNvPr id="15" name="Text 13"/>
              <p:cNvSpPr/>
              <p:nvPr/>
            </p:nvSpPr>
            <p:spPr>
              <a:xfrm>
                <a:off x="2228088" y="2738324"/>
                <a:ext cx="1097280" cy="347473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r">
                  <a:buNone/>
                </a:pPr>
                <a:r>
                  <a:rPr lang="en-US" sz="2000" b="1" dirty="0">
                    <a:solidFill>
                      <a:srgbClr val="00C8E0"/>
                    </a:solidFill>
                  </a:rPr>
                  <a:t>&lt; 2 s</a:t>
                </a:r>
                <a:endParaRPr lang="en-US" sz="2000" dirty="0"/>
              </a:p>
            </p:txBody>
          </p:sp>
          <p:sp>
            <p:nvSpPr>
              <p:cNvPr id="16" name="Text 14"/>
              <p:cNvSpPr/>
              <p:nvPr/>
            </p:nvSpPr>
            <p:spPr>
              <a:xfrm>
                <a:off x="2514600" y="2999232"/>
                <a:ext cx="1737360" cy="2286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r">
                  <a:buNone/>
                </a:pPr>
                <a:r>
                  <a:rPr lang="en-US" sz="850" dirty="0">
                    <a:solidFill>
                      <a:srgbClr val="10B981"/>
                    </a:solidFill>
                  </a:rPr>
                  <a:t>→ &lt; 0,1 s</a:t>
                </a:r>
                <a:endParaRPr lang="en-US" sz="850" dirty="0"/>
              </a:p>
            </p:txBody>
          </p:sp>
        </p:grpSp>
        <p:grpSp>
          <p:nvGrpSpPr>
            <p:cNvPr id="47" name="Skupina 46">
              <a:extLst>
                <a:ext uri="{FF2B5EF4-FFF2-40B4-BE49-F238E27FC236}">
                  <a16:creationId xmlns:a16="http://schemas.microsoft.com/office/drawing/2014/main" id="{626F7E07-B837-AFC6-0145-4C7C59F96017}"/>
                </a:ext>
              </a:extLst>
            </p:cNvPr>
            <p:cNvGrpSpPr/>
            <p:nvPr/>
          </p:nvGrpSpPr>
          <p:grpSpPr>
            <a:xfrm>
              <a:off x="411480" y="3364992"/>
              <a:ext cx="4069080" cy="694944"/>
              <a:chOff x="411480" y="3364992"/>
              <a:chExt cx="4069080" cy="694944"/>
            </a:xfrm>
          </p:grpSpPr>
          <p:sp>
            <p:nvSpPr>
              <p:cNvPr id="17" name="Shape 15"/>
              <p:cNvSpPr/>
              <p:nvPr/>
            </p:nvSpPr>
            <p:spPr>
              <a:xfrm>
                <a:off x="411480" y="3364992"/>
                <a:ext cx="4069080" cy="694944"/>
              </a:xfrm>
              <a:prstGeom prst="rect">
                <a:avLst/>
              </a:prstGeom>
              <a:solidFill>
                <a:srgbClr val="18213A"/>
              </a:solidFill>
              <a:ln w="6350">
                <a:solidFill>
                  <a:srgbClr val="263355"/>
                </a:solidFill>
                <a:prstDash val="solid"/>
              </a:ln>
            </p:spPr>
            <p:txBody>
              <a:bodyPr/>
              <a:lstStyle/>
              <a:p>
                <a:endParaRPr lang="sk-SK"/>
              </a:p>
            </p:txBody>
          </p:sp>
          <p:sp>
            <p:nvSpPr>
              <p:cNvPr id="18" name="Text 16"/>
              <p:cNvSpPr/>
              <p:nvPr/>
            </p:nvSpPr>
            <p:spPr>
              <a:xfrm>
                <a:off x="548640" y="3401568"/>
                <a:ext cx="1920240" cy="2926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050" b="1" dirty="0">
                    <a:solidFill>
                      <a:srgbClr val="FFFFFF"/>
                    </a:solidFill>
                  </a:rPr>
                  <a:t>Jednoduché GUI</a:t>
                </a:r>
                <a:endParaRPr lang="en-US" sz="1050" dirty="0"/>
              </a:p>
            </p:txBody>
          </p:sp>
          <p:sp>
            <p:nvSpPr>
              <p:cNvPr id="19" name="Text 17"/>
              <p:cNvSpPr/>
              <p:nvPr/>
            </p:nvSpPr>
            <p:spPr>
              <a:xfrm>
                <a:off x="548640" y="3712464"/>
                <a:ext cx="1920240" cy="25603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sk-SK" sz="850" dirty="0">
                    <a:solidFill>
                      <a:srgbClr val="94A3B8"/>
                    </a:solidFill>
                  </a:rPr>
                  <a:t>B</a:t>
                </a:r>
                <a:r>
                  <a:rPr lang="en-US" sz="850" dirty="0" err="1">
                    <a:solidFill>
                      <a:srgbClr val="94A3B8"/>
                    </a:solidFill>
                  </a:rPr>
                  <a:t>ez</a:t>
                </a:r>
                <a:r>
                  <a:rPr lang="en-US" sz="850" dirty="0">
                    <a:solidFill>
                      <a:srgbClr val="94A3B8"/>
                    </a:solidFill>
                  </a:rPr>
                  <a:t> programovania</a:t>
                </a:r>
                <a:endParaRPr lang="en-US" sz="850" dirty="0"/>
              </a:p>
            </p:txBody>
          </p:sp>
          <p:sp>
            <p:nvSpPr>
              <p:cNvPr id="20" name="Text 18"/>
              <p:cNvSpPr/>
              <p:nvPr/>
            </p:nvSpPr>
            <p:spPr>
              <a:xfrm>
                <a:off x="2228088" y="3523184"/>
                <a:ext cx="1097280" cy="347473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r">
                  <a:buNone/>
                </a:pPr>
                <a:r>
                  <a:rPr lang="en-US" sz="2000" b="1" dirty="0">
                    <a:solidFill>
                      <a:srgbClr val="00C8E0"/>
                    </a:solidFill>
                  </a:rPr>
                  <a:t>1 klik</a:t>
                </a:r>
                <a:endParaRPr lang="en-US" sz="2000" dirty="0"/>
              </a:p>
            </p:txBody>
          </p:sp>
          <p:sp>
            <p:nvSpPr>
              <p:cNvPr id="21" name="Text 19"/>
              <p:cNvSpPr/>
              <p:nvPr/>
            </p:nvSpPr>
            <p:spPr>
              <a:xfrm>
                <a:off x="2514600" y="3767328"/>
                <a:ext cx="1737360" cy="2286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r">
                  <a:buNone/>
                </a:pPr>
                <a:r>
                  <a:rPr lang="en-US" sz="850" dirty="0">
                    <a:solidFill>
                      <a:srgbClr val="10B981"/>
                    </a:solidFill>
                  </a:rPr>
                  <a:t>→ ✓ splnené</a:t>
                </a:r>
                <a:endParaRPr lang="en-US" sz="850" dirty="0"/>
              </a:p>
            </p:txBody>
          </p:sp>
        </p:grpSp>
        <p:grpSp>
          <p:nvGrpSpPr>
            <p:cNvPr id="48" name="Skupina 47">
              <a:extLst>
                <a:ext uri="{FF2B5EF4-FFF2-40B4-BE49-F238E27FC236}">
                  <a16:creationId xmlns:a16="http://schemas.microsoft.com/office/drawing/2014/main" id="{792F5C58-7E00-B393-17A9-CDB8E1FA1B65}"/>
                </a:ext>
              </a:extLst>
            </p:cNvPr>
            <p:cNvGrpSpPr/>
            <p:nvPr/>
          </p:nvGrpSpPr>
          <p:grpSpPr>
            <a:xfrm>
              <a:off x="411480" y="4133088"/>
              <a:ext cx="4069080" cy="694944"/>
              <a:chOff x="411480" y="4133088"/>
              <a:chExt cx="4069080" cy="694944"/>
            </a:xfrm>
          </p:grpSpPr>
          <p:sp>
            <p:nvSpPr>
              <p:cNvPr id="22" name="Shape 20"/>
              <p:cNvSpPr/>
              <p:nvPr/>
            </p:nvSpPr>
            <p:spPr>
              <a:xfrm>
                <a:off x="411480" y="4133088"/>
                <a:ext cx="4069080" cy="694944"/>
              </a:xfrm>
              <a:prstGeom prst="rect">
                <a:avLst/>
              </a:prstGeom>
              <a:solidFill>
                <a:srgbClr val="1E2B47"/>
              </a:solidFill>
              <a:ln w="6350">
                <a:solidFill>
                  <a:srgbClr val="263355"/>
                </a:solidFill>
                <a:prstDash val="solid"/>
              </a:ln>
            </p:spPr>
            <p:txBody>
              <a:bodyPr/>
              <a:lstStyle/>
              <a:p>
                <a:endParaRPr lang="sk-SK"/>
              </a:p>
            </p:txBody>
          </p:sp>
          <p:sp>
            <p:nvSpPr>
              <p:cNvPr id="23" name="Text 21"/>
              <p:cNvSpPr/>
              <p:nvPr/>
            </p:nvSpPr>
            <p:spPr>
              <a:xfrm>
                <a:off x="548640" y="4169664"/>
                <a:ext cx="1920240" cy="2926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050" b="1" dirty="0">
                    <a:solidFill>
                      <a:srgbClr val="FFFFFF"/>
                    </a:solidFill>
                  </a:rPr>
                  <a:t>Reprodukovateľnosť</a:t>
                </a:r>
                <a:endParaRPr lang="en-US" sz="1050" dirty="0"/>
              </a:p>
            </p:txBody>
          </p:sp>
          <p:sp>
            <p:nvSpPr>
              <p:cNvPr id="24" name="Text 22"/>
              <p:cNvSpPr/>
              <p:nvPr/>
            </p:nvSpPr>
            <p:spPr>
              <a:xfrm>
                <a:off x="548640" y="4480560"/>
                <a:ext cx="1920240" cy="25603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850" dirty="0">
                    <a:solidFill>
                      <a:srgbClr val="94A3B8"/>
                    </a:solidFill>
                  </a:rPr>
                  <a:t>Windows / Linux overené</a:t>
                </a:r>
                <a:endParaRPr lang="en-US" sz="850" dirty="0"/>
              </a:p>
            </p:txBody>
          </p:sp>
          <p:sp>
            <p:nvSpPr>
              <p:cNvPr id="25" name="Text 23"/>
              <p:cNvSpPr/>
              <p:nvPr/>
            </p:nvSpPr>
            <p:spPr>
              <a:xfrm>
                <a:off x="2176272" y="4307434"/>
                <a:ext cx="1097280" cy="347473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r">
                  <a:buNone/>
                </a:pPr>
                <a:r>
                  <a:rPr lang="en-US" sz="2000" b="1" dirty="0">
                    <a:solidFill>
                      <a:srgbClr val="00C8E0"/>
                    </a:solidFill>
                  </a:rPr>
                  <a:t>CPU only</a:t>
                </a:r>
                <a:endParaRPr lang="en-US" sz="2000" dirty="0"/>
              </a:p>
            </p:txBody>
          </p:sp>
          <p:sp>
            <p:nvSpPr>
              <p:cNvPr id="26" name="Text 24"/>
              <p:cNvSpPr/>
              <p:nvPr/>
            </p:nvSpPr>
            <p:spPr>
              <a:xfrm>
                <a:off x="2514600" y="4562247"/>
                <a:ext cx="1737360" cy="2286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r">
                  <a:buNone/>
                </a:pPr>
                <a:r>
                  <a:rPr lang="en-US" sz="850" dirty="0">
                    <a:solidFill>
                      <a:srgbClr val="10B981"/>
                    </a:solidFill>
                  </a:rPr>
                  <a:t>→ ✓ overené</a:t>
                </a:r>
                <a:endParaRPr lang="en-US" sz="850" dirty="0"/>
              </a:p>
            </p:txBody>
          </p:sp>
        </p:grpSp>
        <p:grpSp>
          <p:nvGrpSpPr>
            <p:cNvPr id="51" name="Skupina 50">
              <a:extLst>
                <a:ext uri="{FF2B5EF4-FFF2-40B4-BE49-F238E27FC236}">
                  <a16:creationId xmlns:a16="http://schemas.microsoft.com/office/drawing/2014/main" id="{ECF6A1DC-325D-3DBE-E876-F9AA13369D6B}"/>
                </a:ext>
              </a:extLst>
            </p:cNvPr>
            <p:cNvGrpSpPr/>
            <p:nvPr/>
          </p:nvGrpSpPr>
          <p:grpSpPr>
            <a:xfrm>
              <a:off x="4663440" y="1408176"/>
              <a:ext cx="4069080" cy="347472"/>
              <a:chOff x="4663440" y="1408176"/>
              <a:chExt cx="4069080" cy="347472"/>
            </a:xfrm>
          </p:grpSpPr>
          <p:sp>
            <p:nvSpPr>
              <p:cNvPr id="27" name="Shape 25"/>
              <p:cNvSpPr/>
              <p:nvPr/>
            </p:nvSpPr>
            <p:spPr>
              <a:xfrm>
                <a:off x="4663440" y="1408176"/>
                <a:ext cx="4069080" cy="347472"/>
              </a:xfrm>
              <a:prstGeom prst="rect">
                <a:avLst/>
              </a:prstGeom>
              <a:solidFill>
                <a:srgbClr val="8B5CF6"/>
              </a:solidFill>
              <a:ln w="12700">
                <a:solidFill>
                  <a:srgbClr val="8B5CF6"/>
                </a:solidFill>
                <a:prstDash val="solid"/>
              </a:ln>
            </p:spPr>
            <p:txBody>
              <a:bodyPr/>
              <a:lstStyle/>
              <a:p>
                <a:endParaRPr lang="sk-SK"/>
              </a:p>
            </p:txBody>
          </p:sp>
          <p:sp>
            <p:nvSpPr>
              <p:cNvPr id="28" name="Text 26"/>
              <p:cNvSpPr/>
              <p:nvPr/>
            </p:nvSpPr>
            <p:spPr>
              <a:xfrm>
                <a:off x="4754880" y="1408176"/>
                <a:ext cx="3886200" cy="34747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050" b="1" dirty="0">
                    <a:solidFill>
                      <a:srgbClr val="FFFFFF"/>
                    </a:solidFill>
                  </a:rPr>
                  <a:t>KRI – Kľúčové ukazovatele rizík</a:t>
                </a:r>
                <a:endParaRPr lang="en-US" sz="1050" dirty="0"/>
              </a:p>
            </p:txBody>
          </p:sp>
        </p:grpSp>
        <p:grpSp>
          <p:nvGrpSpPr>
            <p:cNvPr id="50" name="Skupina 49">
              <a:extLst>
                <a:ext uri="{FF2B5EF4-FFF2-40B4-BE49-F238E27FC236}">
                  <a16:creationId xmlns:a16="http://schemas.microsoft.com/office/drawing/2014/main" id="{411916CF-2D61-A591-CA37-A3BCB90C2B60}"/>
                </a:ext>
              </a:extLst>
            </p:cNvPr>
            <p:cNvGrpSpPr/>
            <p:nvPr/>
          </p:nvGrpSpPr>
          <p:grpSpPr>
            <a:xfrm>
              <a:off x="4663440" y="1828800"/>
              <a:ext cx="4069080" cy="2999232"/>
              <a:chOff x="4663440" y="1828800"/>
              <a:chExt cx="4069080" cy="2999232"/>
            </a:xfrm>
          </p:grpSpPr>
          <p:sp>
            <p:nvSpPr>
              <p:cNvPr id="29" name="Shape 27"/>
              <p:cNvSpPr/>
              <p:nvPr/>
            </p:nvSpPr>
            <p:spPr>
              <a:xfrm>
                <a:off x="4663440" y="1828800"/>
                <a:ext cx="4069080" cy="694944"/>
              </a:xfrm>
              <a:prstGeom prst="rect">
                <a:avLst/>
              </a:prstGeom>
              <a:solidFill>
                <a:srgbClr val="18213A"/>
              </a:solidFill>
              <a:ln w="6350">
                <a:solidFill>
                  <a:srgbClr val="263355"/>
                </a:solidFill>
                <a:prstDash val="solid"/>
              </a:ln>
            </p:spPr>
            <p:txBody>
              <a:bodyPr/>
              <a:lstStyle/>
              <a:p>
                <a:endParaRPr lang="sk-SK"/>
              </a:p>
            </p:txBody>
          </p:sp>
          <p:sp>
            <p:nvSpPr>
              <p:cNvPr id="30" name="Shape 28"/>
              <p:cNvSpPr/>
              <p:nvPr/>
            </p:nvSpPr>
            <p:spPr>
              <a:xfrm>
                <a:off x="4663440" y="1828800"/>
                <a:ext cx="64008" cy="694944"/>
              </a:xfrm>
              <a:prstGeom prst="rect">
                <a:avLst/>
              </a:prstGeom>
              <a:solidFill>
                <a:srgbClr val="F59E0B"/>
              </a:solidFill>
              <a:ln w="12700">
                <a:solidFill>
                  <a:srgbClr val="F59E0B"/>
                </a:solidFill>
                <a:prstDash val="solid"/>
              </a:ln>
            </p:spPr>
            <p:txBody>
              <a:bodyPr/>
              <a:lstStyle/>
              <a:p>
                <a:endParaRPr lang="sk-SK"/>
              </a:p>
            </p:txBody>
          </p:sp>
          <p:sp>
            <p:nvSpPr>
              <p:cNvPr id="31" name="Text 29"/>
              <p:cNvSpPr/>
              <p:nvPr/>
            </p:nvSpPr>
            <p:spPr>
              <a:xfrm>
                <a:off x="4800600" y="1865376"/>
                <a:ext cx="3794760" cy="2926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000" b="1" dirty="0">
                    <a:solidFill>
                      <a:srgbClr val="FFFFFF"/>
                    </a:solidFill>
                  </a:rPr>
                  <a:t>Preučenie modelu (Overfitting)</a:t>
                </a:r>
                <a:endParaRPr lang="en-US" sz="1000" dirty="0"/>
              </a:p>
            </p:txBody>
          </p:sp>
          <p:sp>
            <p:nvSpPr>
              <p:cNvPr id="32" name="Text 30"/>
              <p:cNvSpPr/>
              <p:nvPr/>
            </p:nvSpPr>
            <p:spPr>
              <a:xfrm>
                <a:off x="4800600" y="2176272"/>
                <a:ext cx="3794760" cy="2926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850" dirty="0">
                    <a:solidFill>
                      <a:srgbClr val="94A3B8"/>
                    </a:solidFill>
                  </a:rPr>
                  <a:t>Dropout 0,2 · EarlyStopping (patience=3) · Augmentácia</a:t>
                </a:r>
                <a:endParaRPr lang="en-US" sz="850" dirty="0"/>
              </a:p>
            </p:txBody>
          </p:sp>
          <p:sp>
            <p:nvSpPr>
              <p:cNvPr id="33" name="Shape 31"/>
              <p:cNvSpPr/>
              <p:nvPr/>
            </p:nvSpPr>
            <p:spPr>
              <a:xfrm>
                <a:off x="4663440" y="2596896"/>
                <a:ext cx="4069080" cy="694944"/>
              </a:xfrm>
              <a:prstGeom prst="rect">
                <a:avLst/>
              </a:prstGeom>
              <a:solidFill>
                <a:srgbClr val="1E2B47"/>
              </a:solidFill>
              <a:ln w="6350">
                <a:solidFill>
                  <a:srgbClr val="263355"/>
                </a:solidFill>
                <a:prstDash val="solid"/>
              </a:ln>
            </p:spPr>
            <p:txBody>
              <a:bodyPr/>
              <a:lstStyle/>
              <a:p>
                <a:endParaRPr lang="sk-SK"/>
              </a:p>
            </p:txBody>
          </p:sp>
          <p:sp>
            <p:nvSpPr>
              <p:cNvPr id="34" name="Shape 32"/>
              <p:cNvSpPr/>
              <p:nvPr/>
            </p:nvSpPr>
            <p:spPr>
              <a:xfrm>
                <a:off x="4663440" y="2596896"/>
                <a:ext cx="64008" cy="694944"/>
              </a:xfrm>
              <a:prstGeom prst="rect">
                <a:avLst/>
              </a:prstGeom>
              <a:solidFill>
                <a:srgbClr val="F59E0B"/>
              </a:solidFill>
              <a:ln w="12700">
                <a:solidFill>
                  <a:srgbClr val="F59E0B"/>
                </a:solidFill>
                <a:prstDash val="solid"/>
              </a:ln>
            </p:spPr>
            <p:txBody>
              <a:bodyPr/>
              <a:lstStyle/>
              <a:p>
                <a:endParaRPr lang="sk-SK"/>
              </a:p>
            </p:txBody>
          </p:sp>
          <p:sp>
            <p:nvSpPr>
              <p:cNvPr id="35" name="Text 33"/>
              <p:cNvSpPr/>
              <p:nvPr/>
            </p:nvSpPr>
            <p:spPr>
              <a:xfrm>
                <a:off x="4800600" y="2633472"/>
                <a:ext cx="3794760" cy="2926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000" b="1" dirty="0">
                    <a:solidFill>
                      <a:srgbClr val="FFFFFF"/>
                    </a:solidFill>
                  </a:rPr>
                  <a:t>Nedostatočná kvalita datasetu</a:t>
                </a:r>
                <a:endParaRPr lang="en-US" sz="1000" dirty="0"/>
              </a:p>
            </p:txBody>
          </p:sp>
          <p:sp>
            <p:nvSpPr>
              <p:cNvPr id="36" name="Text 34"/>
              <p:cNvSpPr/>
              <p:nvPr/>
            </p:nvSpPr>
            <p:spPr>
              <a:xfrm>
                <a:off x="4800600" y="2944368"/>
                <a:ext cx="3794760" cy="2926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850" dirty="0">
                    <a:solidFill>
                      <a:srgbClr val="94A3B8"/>
                    </a:solidFill>
                  </a:rPr>
                  <a:t>Dataset vyvážený — 124 obr/triedu, pomer max 3:1</a:t>
                </a:r>
                <a:endParaRPr lang="en-US" sz="850" dirty="0"/>
              </a:p>
            </p:txBody>
          </p:sp>
          <p:sp>
            <p:nvSpPr>
              <p:cNvPr id="37" name="Shape 35"/>
              <p:cNvSpPr/>
              <p:nvPr/>
            </p:nvSpPr>
            <p:spPr>
              <a:xfrm>
                <a:off x="4663440" y="3364992"/>
                <a:ext cx="4069080" cy="694944"/>
              </a:xfrm>
              <a:prstGeom prst="rect">
                <a:avLst/>
              </a:prstGeom>
              <a:solidFill>
                <a:srgbClr val="18213A"/>
              </a:solidFill>
              <a:ln w="6350">
                <a:solidFill>
                  <a:srgbClr val="263355"/>
                </a:solidFill>
                <a:prstDash val="solid"/>
              </a:ln>
            </p:spPr>
            <p:txBody>
              <a:bodyPr/>
              <a:lstStyle/>
              <a:p>
                <a:endParaRPr lang="sk-SK"/>
              </a:p>
            </p:txBody>
          </p:sp>
          <p:sp>
            <p:nvSpPr>
              <p:cNvPr id="38" name="Shape 36"/>
              <p:cNvSpPr/>
              <p:nvPr/>
            </p:nvSpPr>
            <p:spPr>
              <a:xfrm>
                <a:off x="4663440" y="3364992"/>
                <a:ext cx="64008" cy="694944"/>
              </a:xfrm>
              <a:prstGeom prst="rect">
                <a:avLst/>
              </a:prstGeom>
              <a:solidFill>
                <a:srgbClr val="F59E0B"/>
              </a:solidFill>
              <a:ln w="12700">
                <a:solidFill>
                  <a:srgbClr val="F59E0B"/>
                </a:solidFill>
                <a:prstDash val="solid"/>
              </a:ln>
            </p:spPr>
            <p:txBody>
              <a:bodyPr/>
              <a:lstStyle/>
              <a:p>
                <a:endParaRPr lang="sk-SK"/>
              </a:p>
            </p:txBody>
          </p:sp>
          <p:sp>
            <p:nvSpPr>
              <p:cNvPr id="39" name="Text 37"/>
              <p:cNvSpPr/>
              <p:nvPr/>
            </p:nvSpPr>
            <p:spPr>
              <a:xfrm>
                <a:off x="4800600" y="3401568"/>
                <a:ext cx="3794760" cy="2926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000" b="1" dirty="0">
                    <a:solidFill>
                      <a:srgbClr val="FFFFFF"/>
                    </a:solidFill>
                  </a:rPr>
                  <a:t>Vysoký čas tréningu na CPU</a:t>
                </a:r>
                <a:endParaRPr lang="en-US" sz="1000" dirty="0"/>
              </a:p>
            </p:txBody>
          </p:sp>
          <p:sp>
            <p:nvSpPr>
              <p:cNvPr id="40" name="Text 38"/>
              <p:cNvSpPr/>
              <p:nvPr/>
            </p:nvSpPr>
            <p:spPr>
              <a:xfrm>
                <a:off x="4800600" y="3712464"/>
                <a:ext cx="3794760" cy="2926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850" dirty="0">
                    <a:solidFill>
                      <a:srgbClr val="94A3B8"/>
                    </a:solidFill>
                  </a:rPr>
                  <a:t>Redukcia veľkosti obrázkov · Optimalizácia architektúry</a:t>
                </a:r>
                <a:endParaRPr lang="en-US" sz="850" dirty="0"/>
              </a:p>
            </p:txBody>
          </p:sp>
          <p:sp>
            <p:nvSpPr>
              <p:cNvPr id="41" name="Shape 39"/>
              <p:cNvSpPr/>
              <p:nvPr/>
            </p:nvSpPr>
            <p:spPr>
              <a:xfrm>
                <a:off x="4663440" y="4133088"/>
                <a:ext cx="4069080" cy="694944"/>
              </a:xfrm>
              <a:prstGeom prst="rect">
                <a:avLst/>
              </a:prstGeom>
              <a:solidFill>
                <a:srgbClr val="1E2B47"/>
              </a:solidFill>
              <a:ln w="6350">
                <a:solidFill>
                  <a:srgbClr val="263355"/>
                </a:solidFill>
                <a:prstDash val="solid"/>
              </a:ln>
            </p:spPr>
            <p:txBody>
              <a:bodyPr/>
              <a:lstStyle/>
              <a:p>
                <a:endParaRPr lang="sk-SK"/>
              </a:p>
            </p:txBody>
          </p:sp>
          <p:sp>
            <p:nvSpPr>
              <p:cNvPr id="42" name="Shape 40"/>
              <p:cNvSpPr/>
              <p:nvPr/>
            </p:nvSpPr>
            <p:spPr>
              <a:xfrm>
                <a:off x="4663440" y="4133088"/>
                <a:ext cx="64008" cy="694944"/>
              </a:xfrm>
              <a:prstGeom prst="rect">
                <a:avLst/>
              </a:prstGeom>
              <a:solidFill>
                <a:srgbClr val="F59E0B"/>
              </a:solidFill>
              <a:ln w="12700">
                <a:solidFill>
                  <a:srgbClr val="F59E0B"/>
                </a:solidFill>
                <a:prstDash val="solid"/>
              </a:ln>
            </p:spPr>
            <p:txBody>
              <a:bodyPr/>
              <a:lstStyle/>
              <a:p>
                <a:endParaRPr lang="sk-SK"/>
              </a:p>
            </p:txBody>
          </p:sp>
          <p:sp>
            <p:nvSpPr>
              <p:cNvPr id="43" name="Text 41"/>
              <p:cNvSpPr/>
              <p:nvPr/>
            </p:nvSpPr>
            <p:spPr>
              <a:xfrm>
                <a:off x="4800600" y="4169664"/>
                <a:ext cx="3794760" cy="2926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000" b="1" dirty="0">
                    <a:solidFill>
                      <a:srgbClr val="FFFFFF"/>
                    </a:solidFill>
                  </a:rPr>
                  <a:t>Technická zložitosť implementácie</a:t>
                </a:r>
                <a:endParaRPr lang="en-US" sz="1000" dirty="0"/>
              </a:p>
            </p:txBody>
          </p:sp>
          <p:sp>
            <p:nvSpPr>
              <p:cNvPr id="44" name="Text 42"/>
              <p:cNvSpPr/>
              <p:nvPr/>
            </p:nvSpPr>
            <p:spPr>
              <a:xfrm>
                <a:off x="4800600" y="4480560"/>
                <a:ext cx="3794760" cy="2926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850" dirty="0">
                    <a:solidFill>
                      <a:srgbClr val="94A3B8"/>
                    </a:solidFill>
                  </a:rPr>
                  <a:t>Vysokoúrovňové API Keras · Threading pre responzívne GUI</a:t>
                </a:r>
                <a:endParaRPr lang="en-US" sz="850" dirty="0"/>
              </a:p>
            </p:txBody>
          </p:sp>
        </p:grpSp>
      </p:grpSp>
      <p:sp>
        <p:nvSpPr>
          <p:cNvPr id="57" name="Shape 15">
            <a:extLst>
              <a:ext uri="{FF2B5EF4-FFF2-40B4-BE49-F238E27FC236}">
                <a16:creationId xmlns:a16="http://schemas.microsoft.com/office/drawing/2014/main" id="{59EB5143-F3A1-97B7-2D94-0A0343F55821}"/>
              </a:ext>
            </a:extLst>
          </p:cNvPr>
          <p:cNvSpPr/>
          <p:nvPr/>
        </p:nvSpPr>
        <p:spPr>
          <a:xfrm>
            <a:off x="411480" y="4423202"/>
            <a:ext cx="4069080" cy="631767"/>
          </a:xfrm>
          <a:prstGeom prst="rect">
            <a:avLst/>
          </a:prstGeom>
          <a:solidFill>
            <a:srgbClr val="18213A"/>
          </a:solidFill>
          <a:ln w="6350">
            <a:solidFill>
              <a:srgbClr val="263355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58" name="Text 16">
            <a:extLst>
              <a:ext uri="{FF2B5EF4-FFF2-40B4-BE49-F238E27FC236}">
                <a16:creationId xmlns:a16="http://schemas.microsoft.com/office/drawing/2014/main" id="{AFA75CAA-557D-643C-741A-CB542438E185}"/>
              </a:ext>
            </a:extLst>
          </p:cNvPr>
          <p:cNvSpPr/>
          <p:nvPr/>
        </p:nvSpPr>
        <p:spPr>
          <a:xfrm>
            <a:off x="550164" y="4456453"/>
            <a:ext cx="1920240" cy="266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 err="1">
                <a:solidFill>
                  <a:srgbClr val="FFFFFF"/>
                </a:solidFill>
              </a:rPr>
              <a:t>Hardvérové</a:t>
            </a:r>
            <a:r>
              <a:rPr lang="en-US" sz="1050" b="1" dirty="0">
                <a:solidFill>
                  <a:srgbClr val="FFFFFF"/>
                </a:solidFill>
              </a:rPr>
              <a:t> ​​</a:t>
            </a:r>
            <a:r>
              <a:rPr lang="en-US" sz="1050" b="1" dirty="0" err="1">
                <a:solidFill>
                  <a:srgbClr val="FFFFFF"/>
                </a:solidFill>
              </a:rPr>
              <a:t>nároky</a:t>
            </a:r>
            <a:endParaRPr lang="en-US" sz="1050" dirty="0"/>
          </a:p>
        </p:txBody>
      </p:sp>
      <p:sp>
        <p:nvSpPr>
          <p:cNvPr id="59" name="Text 17">
            <a:extLst>
              <a:ext uri="{FF2B5EF4-FFF2-40B4-BE49-F238E27FC236}">
                <a16:creationId xmlns:a16="http://schemas.microsoft.com/office/drawing/2014/main" id="{8A04F0EF-3F23-2417-6365-FC5126D5B0F9}"/>
              </a:ext>
            </a:extLst>
          </p:cNvPr>
          <p:cNvSpPr/>
          <p:nvPr/>
        </p:nvSpPr>
        <p:spPr>
          <a:xfrm>
            <a:off x="550164" y="4739086"/>
            <a:ext cx="1920240" cy="232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sk-SK" sz="850" dirty="0">
                <a:solidFill>
                  <a:srgbClr val="94A3B8"/>
                </a:solidFill>
              </a:rPr>
              <a:t>Bez dedikovanej GPU</a:t>
            </a:r>
            <a:endParaRPr lang="en-US" sz="850" dirty="0"/>
          </a:p>
        </p:txBody>
      </p:sp>
      <p:sp>
        <p:nvSpPr>
          <p:cNvPr id="62" name="Shape 35">
            <a:extLst>
              <a:ext uri="{FF2B5EF4-FFF2-40B4-BE49-F238E27FC236}">
                <a16:creationId xmlns:a16="http://schemas.microsoft.com/office/drawing/2014/main" id="{C2B8EC09-EC5B-5411-3158-2E7241E31129}"/>
              </a:ext>
            </a:extLst>
          </p:cNvPr>
          <p:cNvSpPr/>
          <p:nvPr/>
        </p:nvSpPr>
        <p:spPr>
          <a:xfrm>
            <a:off x="4663440" y="4430684"/>
            <a:ext cx="4069080" cy="631767"/>
          </a:xfrm>
          <a:prstGeom prst="rect">
            <a:avLst/>
          </a:prstGeom>
          <a:solidFill>
            <a:srgbClr val="18213A"/>
          </a:solidFill>
          <a:ln w="6350">
            <a:solidFill>
              <a:srgbClr val="263355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63" name="Shape 36">
            <a:extLst>
              <a:ext uri="{FF2B5EF4-FFF2-40B4-BE49-F238E27FC236}">
                <a16:creationId xmlns:a16="http://schemas.microsoft.com/office/drawing/2014/main" id="{0852C097-2D6A-4031-14BB-2724314A9890}"/>
              </a:ext>
            </a:extLst>
          </p:cNvPr>
          <p:cNvSpPr/>
          <p:nvPr/>
        </p:nvSpPr>
        <p:spPr>
          <a:xfrm>
            <a:off x="4663440" y="4430684"/>
            <a:ext cx="64008" cy="631767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64" name="Text 37">
            <a:extLst>
              <a:ext uri="{FF2B5EF4-FFF2-40B4-BE49-F238E27FC236}">
                <a16:creationId xmlns:a16="http://schemas.microsoft.com/office/drawing/2014/main" id="{79462C83-0FA2-C5EC-B876-85C659F5ADC9}"/>
              </a:ext>
            </a:extLst>
          </p:cNvPr>
          <p:cNvSpPr/>
          <p:nvPr/>
        </p:nvSpPr>
        <p:spPr>
          <a:xfrm>
            <a:off x="4800600" y="4463935"/>
            <a:ext cx="3794760" cy="266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l-PL" sz="1000" b="1" dirty="0">
                <a:solidFill>
                  <a:srgbClr val="FFFFFF"/>
                </a:solidFill>
              </a:rPr>
              <a:t>Chyby pri klasifikácii</a:t>
            </a:r>
            <a:endParaRPr lang="en-US" sz="1000" dirty="0"/>
          </a:p>
        </p:txBody>
      </p:sp>
      <p:sp>
        <p:nvSpPr>
          <p:cNvPr id="65" name="Text 38">
            <a:extLst>
              <a:ext uri="{FF2B5EF4-FFF2-40B4-BE49-F238E27FC236}">
                <a16:creationId xmlns:a16="http://schemas.microsoft.com/office/drawing/2014/main" id="{DE10F1AC-F1F9-7C17-8456-E3818FF87F76}"/>
              </a:ext>
            </a:extLst>
          </p:cNvPr>
          <p:cNvSpPr/>
          <p:nvPr/>
        </p:nvSpPr>
        <p:spPr>
          <a:xfrm>
            <a:off x="4800600" y="4746568"/>
            <a:ext cx="3931920" cy="266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sk-SK" sz="850" dirty="0">
                <a:solidFill>
                  <a:srgbClr val="94A3B8"/>
                </a:solidFill>
              </a:rPr>
              <a:t>P</a:t>
            </a:r>
            <a:r>
              <a:rPr lang="en-US" sz="850" dirty="0" err="1">
                <a:solidFill>
                  <a:srgbClr val="94A3B8"/>
                </a:solidFill>
              </a:rPr>
              <a:t>rirodzená</a:t>
            </a:r>
            <a:r>
              <a:rPr lang="en-US" sz="850" dirty="0">
                <a:solidFill>
                  <a:srgbClr val="94A3B8"/>
                </a:solidFill>
              </a:rPr>
              <a:t> </a:t>
            </a:r>
            <a:r>
              <a:rPr lang="en-US" sz="850" dirty="0" err="1">
                <a:solidFill>
                  <a:srgbClr val="94A3B8"/>
                </a:solidFill>
              </a:rPr>
              <a:t>chybovosť</a:t>
            </a:r>
            <a:r>
              <a:rPr lang="en-US" sz="850" dirty="0">
                <a:solidFill>
                  <a:srgbClr val="94A3B8"/>
                </a:solidFill>
              </a:rPr>
              <a:t> ML </a:t>
            </a:r>
            <a:r>
              <a:rPr lang="en-US" sz="850" dirty="0" err="1">
                <a:solidFill>
                  <a:srgbClr val="94A3B8"/>
                </a:solidFill>
              </a:rPr>
              <a:t>systémov</a:t>
            </a:r>
            <a:r>
              <a:rPr lang="en-US" sz="850" dirty="0">
                <a:solidFill>
                  <a:srgbClr val="94A3B8"/>
                </a:solidFill>
              </a:rPr>
              <a:t>, </a:t>
            </a:r>
            <a:r>
              <a:rPr lang="en-US" sz="850" dirty="0" err="1">
                <a:solidFill>
                  <a:srgbClr val="94A3B8"/>
                </a:solidFill>
              </a:rPr>
              <a:t>riešená</a:t>
            </a:r>
            <a:r>
              <a:rPr lang="en-US" sz="850" dirty="0">
                <a:solidFill>
                  <a:srgbClr val="94A3B8"/>
                </a:solidFill>
              </a:rPr>
              <a:t> </a:t>
            </a:r>
            <a:r>
              <a:rPr lang="en-US" sz="850" dirty="0" err="1">
                <a:solidFill>
                  <a:srgbClr val="94A3B8"/>
                </a:solidFill>
              </a:rPr>
              <a:t>analýza</a:t>
            </a:r>
            <a:r>
              <a:rPr lang="en-US" sz="850" dirty="0">
                <a:solidFill>
                  <a:srgbClr val="94A3B8"/>
                </a:solidFill>
              </a:rPr>
              <a:t> </a:t>
            </a:r>
            <a:r>
              <a:rPr lang="en-US" sz="850" dirty="0" err="1">
                <a:solidFill>
                  <a:srgbClr val="94A3B8"/>
                </a:solidFill>
              </a:rPr>
              <a:t>cez</a:t>
            </a:r>
            <a:r>
              <a:rPr lang="en-US" sz="850" dirty="0">
                <a:solidFill>
                  <a:srgbClr val="94A3B8"/>
                </a:solidFill>
              </a:rPr>
              <a:t> confusion matrix a F1-score</a:t>
            </a:r>
          </a:p>
        </p:txBody>
      </p:sp>
      <p:sp>
        <p:nvSpPr>
          <p:cNvPr id="66" name="Text 23">
            <a:extLst>
              <a:ext uri="{FF2B5EF4-FFF2-40B4-BE49-F238E27FC236}">
                <a16:creationId xmlns:a16="http://schemas.microsoft.com/office/drawing/2014/main" id="{0CD32E64-B075-1324-C886-7252E5364570}"/>
              </a:ext>
            </a:extLst>
          </p:cNvPr>
          <p:cNvSpPr/>
          <p:nvPr/>
        </p:nvSpPr>
        <p:spPr>
          <a:xfrm>
            <a:off x="2340864" y="4568398"/>
            <a:ext cx="1234440" cy="315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8E0"/>
                </a:solidFill>
              </a:rPr>
              <a:t>CPU</a:t>
            </a:r>
            <a:r>
              <a:rPr lang="sk-SK" sz="2000" b="1" dirty="0">
                <a:solidFill>
                  <a:srgbClr val="00C8E0"/>
                </a:solidFill>
              </a:rPr>
              <a:t> </a:t>
            </a:r>
          </a:p>
          <a:p>
            <a:pPr marL="0" indent="0" algn="r">
              <a:buNone/>
            </a:pPr>
            <a:r>
              <a:rPr lang="sk-SK" sz="2000" b="1" dirty="0">
                <a:solidFill>
                  <a:srgbClr val="00C8E0"/>
                </a:solidFill>
              </a:rPr>
              <a:t>(bez GPU)</a:t>
            </a:r>
            <a:endParaRPr lang="en-US" sz="2000" dirty="0"/>
          </a:p>
        </p:txBody>
      </p:sp>
      <p:sp>
        <p:nvSpPr>
          <p:cNvPr id="67" name="Text 24">
            <a:extLst>
              <a:ext uri="{FF2B5EF4-FFF2-40B4-BE49-F238E27FC236}">
                <a16:creationId xmlns:a16="http://schemas.microsoft.com/office/drawing/2014/main" id="{F701238B-338F-BCA8-AD41-AE480F20C3E0}"/>
              </a:ext>
            </a:extLst>
          </p:cNvPr>
          <p:cNvSpPr/>
          <p:nvPr/>
        </p:nvSpPr>
        <p:spPr>
          <a:xfrm>
            <a:off x="2583180" y="4817780"/>
            <a:ext cx="1737360" cy="2078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0B981"/>
                </a:solidFill>
              </a:rPr>
              <a:t>→ ✓ overené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5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8E0"/>
                </a:solidFill>
              </a:rPr>
              <a:t>3. IT STRATÉGIA — SWOT ANALÝZA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analýza — SO stratégia (Maxi-Maxi)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389888"/>
            <a:ext cx="8321040" cy="347472"/>
          </a:xfrm>
          <a:prstGeom prst="rect">
            <a:avLst/>
          </a:prstGeom>
          <a:solidFill>
            <a:srgbClr val="0D2038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E0"/>
                </a:solidFill>
              </a:rPr>
              <a:t>Výsledok: S+O = 7,55  &gt;  W+T = 5,50  →  Bilancia kladná  →  Zvolená SO stratégia (Maxi-Maxi)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810512"/>
            <a:ext cx="4069080" cy="1371600"/>
          </a:xfrm>
          <a:prstGeom prst="rect">
            <a:avLst/>
          </a:prstGeom>
          <a:solidFill>
            <a:srgbClr val="0A2A1A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8" name="Text 6"/>
          <p:cNvSpPr/>
          <p:nvPr/>
        </p:nvSpPr>
        <p:spPr>
          <a:xfrm>
            <a:off x="521208" y="186537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S — Silné stránky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072" y="2157984"/>
            <a:ext cx="3794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</a:rPr>
              <a:t>Open-source tech stack (Python, TF, Keras)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76072" y="2395728"/>
            <a:ext cx="3794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</a:rPr>
              <a:t>Nízke náklady — žiadne licenčné poplatky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76072" y="2633472"/>
            <a:ext cx="3794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</a:rPr>
              <a:t>Jednoduché GUI sprístupňuje systém bez programovania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76072" y="2871216"/>
            <a:ext cx="3794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</a:rPr>
              <a:t>Plne reprodukovateľné (Windows / Linux)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63440" y="1810512"/>
            <a:ext cx="4069080" cy="1371600"/>
          </a:xfrm>
          <a:prstGeom prst="rect">
            <a:avLst/>
          </a:prstGeom>
          <a:solidFill>
            <a:srgbClr val="2A1A0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4" name="Text 12"/>
          <p:cNvSpPr/>
          <p:nvPr/>
        </p:nvSpPr>
        <p:spPr>
          <a:xfrm>
            <a:off x="4773168" y="186537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W — Slabé stránky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28032" y="2157984"/>
            <a:ext cx="3794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</a:rPr>
              <a:t>Nižšia presnosť vs. transfer learning modely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28032" y="2395728"/>
            <a:ext cx="3794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</a:rPr>
              <a:t>Dlhší čas tréningu na CPU (bez GPU)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28032" y="2633472"/>
            <a:ext cx="3794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</a:rPr>
              <a:t>Obmedzený dataset — len hracie karty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28032" y="2871216"/>
            <a:ext cx="3794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</a:rPr>
              <a:t>Potreba základných znalostí pri úpravách kódu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11480" y="3264408"/>
            <a:ext cx="4069080" cy="1371600"/>
          </a:xfrm>
          <a:prstGeom prst="rect">
            <a:avLst/>
          </a:prstGeom>
          <a:solidFill>
            <a:srgbClr val="0A1A2A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0" name="Text 18"/>
          <p:cNvSpPr/>
          <p:nvPr/>
        </p:nvSpPr>
        <p:spPr>
          <a:xfrm>
            <a:off x="521208" y="331927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E0"/>
                </a:solidFill>
              </a:rPr>
              <a:t>O — Príležitosti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76072" y="3611880"/>
            <a:ext cx="3794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</a:rPr>
              <a:t>Rastúci dopyt po praktických AI/ML nástrojoch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76072" y="3849624"/>
            <a:ext cx="3794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</a:rPr>
              <a:t>Využitie priamo v školách a online kurzoch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76072" y="4087368"/>
            <a:ext cx="3794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</a:rPr>
              <a:t>Transfer learning (EfficientNet, MobileNet)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76072" y="4325112"/>
            <a:ext cx="3794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</a:rPr>
              <a:t>Rozšírenie o webkameru (OpenCV) a web verziu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63440" y="3264408"/>
            <a:ext cx="4069080" cy="1371600"/>
          </a:xfrm>
          <a:prstGeom prst="rect">
            <a:avLst/>
          </a:prstGeom>
          <a:solidFill>
            <a:srgbClr val="2A0A0A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6" name="Text 24"/>
          <p:cNvSpPr/>
          <p:nvPr/>
        </p:nvSpPr>
        <p:spPr>
          <a:xfrm>
            <a:off x="4773168" y="331927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T — Hrozby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28032" y="3611880"/>
            <a:ext cx="3794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</a:rPr>
              <a:t>Rýchly vývoj — aktualizácie TensorFlow API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28032" y="3849624"/>
            <a:ext cx="3794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</a:rPr>
              <a:t>Nedostatočný HW v niektorých školách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828032" y="4087368"/>
            <a:ext cx="3794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</a:rPr>
              <a:t>Riziko preučenia pri zlom nastavení parametrov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828032" y="4325112"/>
            <a:ext cx="3794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</a:rPr>
              <a:t>Zmena/nedostupnosť datasetu na Kaggle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5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8E0"/>
                </a:solidFill>
              </a:rPr>
              <a:t>3. IT STRATÉGIA — TECHNOLÓGIE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Technologický stack a architektúra systému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444752"/>
            <a:ext cx="4160520" cy="1024128"/>
          </a:xfrm>
          <a:prstGeom prst="rect">
            <a:avLst/>
          </a:prstGeom>
          <a:solidFill>
            <a:srgbClr val="18213A"/>
          </a:solidFill>
          <a:ln w="9525">
            <a:solidFill>
              <a:srgbClr val="263355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6" name="Shape 4"/>
          <p:cNvSpPr/>
          <p:nvPr/>
        </p:nvSpPr>
        <p:spPr>
          <a:xfrm>
            <a:off x="411480" y="1444752"/>
            <a:ext cx="64008" cy="1024128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7" name="Text 5"/>
          <p:cNvSpPr/>
          <p:nvPr/>
        </p:nvSpPr>
        <p:spPr>
          <a:xfrm>
            <a:off x="576072" y="1508760"/>
            <a:ext cx="3904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00C8E0"/>
                </a:solidFill>
              </a:rPr>
              <a:t>JAZYK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76072" y="1700784"/>
            <a:ext cx="39044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Python 3.8+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76072" y="2039112"/>
            <a:ext cx="3904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Štandard ML · čitateľnosť pre edukáciu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73168" y="1444752"/>
            <a:ext cx="4160520" cy="1024128"/>
          </a:xfrm>
          <a:prstGeom prst="rect">
            <a:avLst/>
          </a:prstGeom>
          <a:solidFill>
            <a:srgbClr val="18213A"/>
          </a:solidFill>
          <a:ln w="9525">
            <a:solidFill>
              <a:srgbClr val="263355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1" name="Shape 9"/>
          <p:cNvSpPr/>
          <p:nvPr/>
        </p:nvSpPr>
        <p:spPr>
          <a:xfrm>
            <a:off x="4773168" y="1444752"/>
            <a:ext cx="64008" cy="1024128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2" name="Text 10"/>
          <p:cNvSpPr/>
          <p:nvPr/>
        </p:nvSpPr>
        <p:spPr>
          <a:xfrm>
            <a:off x="4937760" y="1508760"/>
            <a:ext cx="3904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00C8E0"/>
                </a:solidFill>
              </a:rPr>
              <a:t>ML FRAMEWORK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937760" y="1700784"/>
            <a:ext cx="39044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TensorFlow / Keras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2039112"/>
            <a:ext cx="3904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High-level API · veľká komunita · dokumentácia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2615184"/>
            <a:ext cx="4160520" cy="1024128"/>
          </a:xfrm>
          <a:prstGeom prst="rect">
            <a:avLst/>
          </a:prstGeom>
          <a:solidFill>
            <a:srgbClr val="18213A"/>
          </a:solidFill>
          <a:ln w="9525">
            <a:solidFill>
              <a:srgbClr val="263355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6" name="Shape 14"/>
          <p:cNvSpPr/>
          <p:nvPr/>
        </p:nvSpPr>
        <p:spPr>
          <a:xfrm>
            <a:off x="411480" y="2615184"/>
            <a:ext cx="64008" cy="10241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7" name="Text 15"/>
          <p:cNvSpPr/>
          <p:nvPr/>
        </p:nvSpPr>
        <p:spPr>
          <a:xfrm>
            <a:off x="576072" y="2679192"/>
            <a:ext cx="3904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8B5CF6"/>
                </a:solidFill>
              </a:rPr>
              <a:t>GUI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76072" y="2871216"/>
            <a:ext cx="39044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Tkinter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76072" y="3209544"/>
            <a:ext cx="3904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Súčasť Pythonu · bez inštalácie · prenositeľné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73168" y="2615184"/>
            <a:ext cx="4160520" cy="1024128"/>
          </a:xfrm>
          <a:prstGeom prst="rect">
            <a:avLst/>
          </a:prstGeom>
          <a:solidFill>
            <a:srgbClr val="18213A"/>
          </a:solidFill>
          <a:ln w="9525">
            <a:solidFill>
              <a:srgbClr val="263355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1" name="Shape 19"/>
          <p:cNvSpPr/>
          <p:nvPr/>
        </p:nvSpPr>
        <p:spPr>
          <a:xfrm>
            <a:off x="4773168" y="2615184"/>
            <a:ext cx="64008" cy="10241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2" name="Text 20"/>
          <p:cNvSpPr/>
          <p:nvPr/>
        </p:nvSpPr>
        <p:spPr>
          <a:xfrm>
            <a:off x="4937760" y="2679192"/>
            <a:ext cx="3904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8B5CF6"/>
                </a:solidFill>
              </a:rPr>
              <a:t>VIZUALIZÁCIA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937760" y="2871216"/>
            <a:ext cx="39044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Matplotlib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37760" y="3209544"/>
            <a:ext cx="3904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Grafy accuracy/loss · confusion matrix inline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1480" y="3785616"/>
            <a:ext cx="4160520" cy="1024128"/>
          </a:xfrm>
          <a:prstGeom prst="rect">
            <a:avLst/>
          </a:prstGeom>
          <a:solidFill>
            <a:srgbClr val="18213A"/>
          </a:solidFill>
          <a:ln w="9525">
            <a:solidFill>
              <a:srgbClr val="263355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6" name="Shape 24"/>
          <p:cNvSpPr/>
          <p:nvPr/>
        </p:nvSpPr>
        <p:spPr>
          <a:xfrm>
            <a:off x="411480" y="3785616"/>
            <a:ext cx="64008" cy="10241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7" name="Text 25"/>
          <p:cNvSpPr/>
          <p:nvPr/>
        </p:nvSpPr>
        <p:spPr>
          <a:xfrm>
            <a:off x="576072" y="3849624"/>
            <a:ext cx="3904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10B981"/>
                </a:solidFill>
              </a:rPr>
              <a:t>DATASET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76072" y="4041648"/>
            <a:ext cx="39044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Kaggle Cards Dataset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76072" y="4379976"/>
            <a:ext cx="3904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53 tried · 7 624 obrázkov · otvorená licencia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73168" y="3785616"/>
            <a:ext cx="4160520" cy="1024128"/>
          </a:xfrm>
          <a:prstGeom prst="rect">
            <a:avLst/>
          </a:prstGeom>
          <a:solidFill>
            <a:srgbClr val="18213A"/>
          </a:solidFill>
          <a:ln w="9525">
            <a:solidFill>
              <a:srgbClr val="263355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1" name="Shape 29"/>
          <p:cNvSpPr/>
          <p:nvPr/>
        </p:nvSpPr>
        <p:spPr>
          <a:xfrm>
            <a:off x="4773168" y="3785616"/>
            <a:ext cx="64008" cy="10241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2" name="Text 30"/>
          <p:cNvSpPr/>
          <p:nvPr/>
        </p:nvSpPr>
        <p:spPr>
          <a:xfrm>
            <a:off x="4937760" y="3849624"/>
            <a:ext cx="3904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F59E0B"/>
                </a:solidFill>
              </a:rPr>
              <a:t>OPTIMALIZÁTOR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937760" y="4041648"/>
            <a:ext cx="39044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Adam (lr = 0,001)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937760" y="4379976"/>
            <a:ext cx="3904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Adaptívny · stabilná konvergencia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5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8E0"/>
                </a:solidFill>
              </a:rPr>
              <a:t>4. DATASET A PRÍPRAVA DÁT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Cards Dataset — štatistiky a preprocessing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444752"/>
            <a:ext cx="1938528" cy="1115568"/>
          </a:xfrm>
          <a:prstGeom prst="rect">
            <a:avLst/>
          </a:prstGeom>
          <a:solidFill>
            <a:srgbClr val="18213A"/>
          </a:solidFill>
          <a:ln w="1905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6" name="Text 4"/>
          <p:cNvSpPr/>
          <p:nvPr/>
        </p:nvSpPr>
        <p:spPr>
          <a:xfrm>
            <a:off x="411480" y="1490472"/>
            <a:ext cx="19385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8E0"/>
                </a:solidFill>
              </a:rPr>
              <a:t>53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2103120"/>
            <a:ext cx="19385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tried kariet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96312" y="1444752"/>
            <a:ext cx="1938528" cy="1115568"/>
          </a:xfrm>
          <a:prstGeom prst="rect">
            <a:avLst/>
          </a:prstGeom>
          <a:solidFill>
            <a:srgbClr val="18213A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9" name="Text 7"/>
          <p:cNvSpPr/>
          <p:nvPr/>
        </p:nvSpPr>
        <p:spPr>
          <a:xfrm>
            <a:off x="2496312" y="1490472"/>
            <a:ext cx="19385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B5CF6"/>
                </a:solidFill>
              </a:rPr>
              <a:t>7 624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496312" y="2103120"/>
            <a:ext cx="19385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tréning. obrázkov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81144" y="1444752"/>
            <a:ext cx="1938528" cy="1115568"/>
          </a:xfrm>
          <a:prstGeom prst="rect">
            <a:avLst/>
          </a:prstGeom>
          <a:solidFill>
            <a:srgbClr val="18213A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2" name="Text 10"/>
          <p:cNvSpPr/>
          <p:nvPr/>
        </p:nvSpPr>
        <p:spPr>
          <a:xfrm>
            <a:off x="4581144" y="1490472"/>
            <a:ext cx="19385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0B981"/>
                </a:solidFill>
              </a:rPr>
              <a:t>224×224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81144" y="2103120"/>
            <a:ext cx="19385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px · JPEG vstup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665976" y="1444752"/>
            <a:ext cx="1938528" cy="1115568"/>
          </a:xfrm>
          <a:prstGeom prst="rect">
            <a:avLst/>
          </a:prstGeom>
          <a:solidFill>
            <a:srgbClr val="18213A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5" name="Text 13"/>
          <p:cNvSpPr/>
          <p:nvPr/>
        </p:nvSpPr>
        <p:spPr>
          <a:xfrm>
            <a:off x="6665976" y="1490472"/>
            <a:ext cx="19385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</a:rPr>
              <a:t>265 / 265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665976" y="2103120"/>
            <a:ext cx="19385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valid. / test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2724912"/>
            <a:ext cx="8321040" cy="292608"/>
          </a:xfrm>
          <a:prstGeom prst="rect">
            <a:avLst/>
          </a:prstGeom>
          <a:solidFill>
            <a:srgbClr val="1E2B47"/>
          </a:solidFill>
          <a:ln w="12700">
            <a:solidFill>
              <a:srgbClr val="263355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8" name="Text 16"/>
          <p:cNvSpPr/>
          <p:nvPr/>
        </p:nvSpPr>
        <p:spPr>
          <a:xfrm>
            <a:off x="548640" y="272491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E0"/>
                </a:solidFill>
              </a:rPr>
              <a:t>Preprocessing pipeline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33856" y="3154680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523"/>
                </a:solidFill>
              </a:rPr>
              <a:t>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18688" y="3154680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523"/>
                </a:solidFill>
              </a:rPr>
              <a:t>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03520" y="3154680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523"/>
                </a:solidFill>
              </a:rPr>
              <a:t>3</a:t>
            </a:r>
            <a:endParaRPr lang="en-US" sz="1200" dirty="0"/>
          </a:p>
        </p:txBody>
      </p:sp>
      <p:grpSp>
        <p:nvGrpSpPr>
          <p:cNvPr id="39" name="Skupina 38">
            <a:extLst>
              <a:ext uri="{FF2B5EF4-FFF2-40B4-BE49-F238E27FC236}">
                <a16:creationId xmlns:a16="http://schemas.microsoft.com/office/drawing/2014/main" id="{2A55A64A-FC83-0FBD-59C1-8EC94BC06297}"/>
              </a:ext>
            </a:extLst>
          </p:cNvPr>
          <p:cNvGrpSpPr/>
          <p:nvPr/>
        </p:nvGrpSpPr>
        <p:grpSpPr>
          <a:xfrm>
            <a:off x="1212495" y="3136392"/>
            <a:ext cx="6719011" cy="1737360"/>
            <a:chOff x="411480" y="3090672"/>
            <a:chExt cx="6108192" cy="1737360"/>
          </a:xfrm>
        </p:grpSpPr>
        <p:sp>
          <p:nvSpPr>
            <p:cNvPr id="19" name="Shape 17"/>
            <p:cNvSpPr/>
            <p:nvPr/>
          </p:nvSpPr>
          <p:spPr>
            <a:xfrm>
              <a:off x="411480" y="3090672"/>
              <a:ext cx="1938528" cy="1737360"/>
            </a:xfrm>
            <a:prstGeom prst="rect">
              <a:avLst/>
            </a:prstGeom>
            <a:solidFill>
              <a:srgbClr val="18213A"/>
            </a:solidFill>
            <a:ln w="9525">
              <a:solidFill>
                <a:srgbClr val="263355"/>
              </a:solidFill>
              <a:prstDash val="solid"/>
            </a:ln>
          </p:spPr>
          <p:txBody>
            <a:bodyPr/>
            <a:lstStyle/>
            <a:p>
              <a:endParaRPr lang="sk-SK"/>
            </a:p>
          </p:txBody>
        </p:sp>
        <p:sp>
          <p:nvSpPr>
            <p:cNvPr id="20" name="Shape 18"/>
            <p:cNvSpPr/>
            <p:nvPr/>
          </p:nvSpPr>
          <p:spPr>
            <a:xfrm>
              <a:off x="1133856" y="3154680"/>
              <a:ext cx="458182" cy="504000"/>
            </a:xfrm>
            <a:prstGeom prst="ellipse">
              <a:avLst/>
            </a:prstGeom>
            <a:solidFill>
              <a:srgbClr val="00C8E0"/>
            </a:solidFill>
            <a:ln w="12700">
              <a:solidFill>
                <a:srgbClr val="00C8E0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sk-SK" dirty="0"/>
                <a:t>1</a:t>
              </a:r>
            </a:p>
          </p:txBody>
        </p:sp>
        <p:sp>
          <p:nvSpPr>
            <p:cNvPr id="22" name="Text 20"/>
            <p:cNvSpPr/>
            <p:nvPr/>
          </p:nvSpPr>
          <p:spPr>
            <a:xfrm>
              <a:off x="502920" y="3712464"/>
              <a:ext cx="1755648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</a:rPr>
                <a:t>Resize</a:t>
              </a:r>
              <a:endParaRPr lang="en-US" sz="11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502920" y="4005072"/>
              <a:ext cx="1755648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94A3B8"/>
                  </a:solidFill>
                </a:rPr>
                <a:t>224×224 px</a:t>
              </a:r>
              <a:endParaRPr lang="en-US" sz="850" dirty="0"/>
            </a:p>
            <a:p>
              <a:pPr marL="0" indent="0" algn="ctr">
                <a:buNone/>
              </a:pPr>
              <a:r>
                <a:rPr lang="en-US" sz="850" dirty="0">
                  <a:solidFill>
                    <a:srgbClr val="94A3B8"/>
                  </a:solidFill>
                </a:rPr>
                <a:t>štandardná CNN veľkosť</a:t>
              </a:r>
              <a:endParaRPr lang="en-US" sz="85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2496312" y="3090672"/>
              <a:ext cx="1938528" cy="1737360"/>
            </a:xfrm>
            <a:prstGeom prst="rect">
              <a:avLst/>
            </a:prstGeom>
            <a:solidFill>
              <a:srgbClr val="18213A"/>
            </a:solidFill>
            <a:ln w="9525">
              <a:solidFill>
                <a:srgbClr val="263355"/>
              </a:solidFill>
              <a:prstDash val="solid"/>
            </a:ln>
          </p:spPr>
          <p:txBody>
            <a:bodyPr/>
            <a:lstStyle/>
            <a:p>
              <a:endParaRPr lang="sk-SK"/>
            </a:p>
          </p:txBody>
        </p:sp>
        <p:sp>
          <p:nvSpPr>
            <p:cNvPr id="25" name="Shape 23"/>
            <p:cNvSpPr/>
            <p:nvPr/>
          </p:nvSpPr>
          <p:spPr>
            <a:xfrm>
              <a:off x="3218688" y="3154680"/>
              <a:ext cx="458182" cy="504000"/>
            </a:xfrm>
            <a:prstGeom prst="ellipse">
              <a:avLst/>
            </a:prstGeom>
            <a:solidFill>
              <a:srgbClr val="00C8E0"/>
            </a:solidFill>
            <a:ln w="12700">
              <a:solidFill>
                <a:srgbClr val="00C8E0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sk-SK" dirty="0"/>
                <a:t>2</a:t>
              </a:r>
            </a:p>
          </p:txBody>
        </p:sp>
        <p:sp>
          <p:nvSpPr>
            <p:cNvPr id="27" name="Text 25"/>
            <p:cNvSpPr/>
            <p:nvPr/>
          </p:nvSpPr>
          <p:spPr>
            <a:xfrm>
              <a:off x="2587752" y="3712464"/>
              <a:ext cx="1755648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</a:rPr>
                <a:t>Normalizácia</a:t>
              </a:r>
              <a:endParaRPr lang="en-US" sz="11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2587752" y="4005072"/>
              <a:ext cx="1755648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94A3B8"/>
                  </a:solidFill>
                </a:rPr>
                <a:t>Pixely 0–255</a:t>
              </a:r>
              <a:endParaRPr lang="en-US" sz="850" dirty="0"/>
            </a:p>
            <a:p>
              <a:pPr marL="0" indent="0" algn="ctr">
                <a:buNone/>
              </a:pPr>
              <a:r>
                <a:rPr lang="en-US" sz="850" dirty="0">
                  <a:solidFill>
                    <a:srgbClr val="94A3B8"/>
                  </a:solidFill>
                </a:rPr>
                <a:t>→ 0,0–1,0 (vrstva Rescaling)</a:t>
              </a:r>
              <a:endParaRPr lang="en-US" sz="85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4581144" y="3090672"/>
              <a:ext cx="1938528" cy="1737360"/>
            </a:xfrm>
            <a:prstGeom prst="rect">
              <a:avLst/>
            </a:prstGeom>
            <a:solidFill>
              <a:srgbClr val="18213A"/>
            </a:solidFill>
            <a:ln w="9525">
              <a:solidFill>
                <a:srgbClr val="263355"/>
              </a:solidFill>
              <a:prstDash val="solid"/>
            </a:ln>
          </p:spPr>
          <p:txBody>
            <a:bodyPr/>
            <a:lstStyle/>
            <a:p>
              <a:endParaRPr lang="sk-SK"/>
            </a:p>
          </p:txBody>
        </p:sp>
        <p:sp>
          <p:nvSpPr>
            <p:cNvPr id="30" name="Shape 28"/>
            <p:cNvSpPr/>
            <p:nvPr/>
          </p:nvSpPr>
          <p:spPr>
            <a:xfrm>
              <a:off x="5303520" y="3154680"/>
              <a:ext cx="458182" cy="504000"/>
            </a:xfrm>
            <a:prstGeom prst="ellipse">
              <a:avLst/>
            </a:prstGeom>
            <a:solidFill>
              <a:srgbClr val="00C8E0"/>
            </a:solidFill>
            <a:ln w="12700">
              <a:solidFill>
                <a:srgbClr val="00C8E0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sk-SK" dirty="0"/>
                <a:t>3</a:t>
              </a:r>
            </a:p>
          </p:txBody>
        </p:sp>
        <p:sp>
          <p:nvSpPr>
            <p:cNvPr id="32" name="Text 30"/>
            <p:cNvSpPr/>
            <p:nvPr/>
          </p:nvSpPr>
          <p:spPr>
            <a:xfrm>
              <a:off x="4672584" y="3712464"/>
              <a:ext cx="1755648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</a:rPr>
                <a:t>Augmentácia</a:t>
              </a:r>
              <a:endParaRPr lang="en-US" sz="11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4672584" y="4005072"/>
              <a:ext cx="1755648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94A3B8"/>
                  </a:solidFill>
                </a:rPr>
                <a:t>Horizontálne zrkadlenie</a:t>
              </a:r>
              <a:endParaRPr lang="en-US" sz="850" dirty="0"/>
            </a:p>
            <a:p>
              <a:pPr marL="0" indent="0" algn="ctr">
                <a:buNone/>
              </a:pPr>
              <a:r>
                <a:rPr lang="en-US" sz="850" dirty="0">
                  <a:solidFill>
                    <a:srgbClr val="94A3B8"/>
                  </a:solidFill>
                </a:rPr>
                <a:t>Rotácia ±10,8° · Zoom ±10 %</a:t>
              </a:r>
              <a:endParaRPr lang="en-US" sz="850" dirty="0"/>
            </a:p>
          </p:txBody>
        </p:sp>
      </p:grpSp>
      <p:sp>
        <p:nvSpPr>
          <p:cNvPr id="36" name="Text 34"/>
          <p:cNvSpPr/>
          <p:nvPr/>
        </p:nvSpPr>
        <p:spPr>
          <a:xfrm>
            <a:off x="7388352" y="3154680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523"/>
                </a:solidFill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5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8E0"/>
                </a:solidFill>
              </a:rPr>
              <a:t>4. CNN MODEL — ARCHITEKTÚRA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Detailná architektúra — 12 945 269 parametrov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389888"/>
            <a:ext cx="1152144" cy="2468880"/>
          </a:xfrm>
          <a:prstGeom prst="rect">
            <a:avLst/>
          </a:prstGeom>
          <a:solidFill>
            <a:srgbClr val="1A4A3A"/>
          </a:solidFill>
          <a:ln w="12700">
            <a:solidFill>
              <a:srgbClr val="263355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6" name="Text 4"/>
          <p:cNvSpPr/>
          <p:nvPr/>
        </p:nvSpPr>
        <p:spPr>
          <a:xfrm>
            <a:off x="347472" y="1481328"/>
            <a:ext cx="1152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Input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7472" y="1938528"/>
            <a:ext cx="11521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</a:rPr>
              <a:t>224×224×3</a:t>
            </a:r>
          </a:p>
        </p:txBody>
      </p:sp>
      <p:sp>
        <p:nvSpPr>
          <p:cNvPr id="8" name="Text 6"/>
          <p:cNvSpPr/>
          <p:nvPr/>
        </p:nvSpPr>
        <p:spPr>
          <a:xfrm>
            <a:off x="347472" y="2715768"/>
            <a:ext cx="1152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00C8E0"/>
                </a:solidFill>
              </a:rPr>
              <a:t>—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47472" y="3108960"/>
            <a:ext cx="11521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chemeClr val="bg1"/>
                </a:solidFill>
              </a:rPr>
              <a:t>params</a:t>
            </a:r>
          </a:p>
        </p:txBody>
      </p:sp>
      <p:sp>
        <p:nvSpPr>
          <p:cNvPr id="10" name="Shape 8"/>
          <p:cNvSpPr/>
          <p:nvPr/>
        </p:nvSpPr>
        <p:spPr>
          <a:xfrm>
            <a:off x="1508760" y="2624328"/>
            <a:ext cx="45720" cy="0"/>
          </a:xfrm>
          <a:prstGeom prst="line">
            <a:avLst/>
          </a:prstGeom>
          <a:noFill/>
          <a:ln w="1905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1" name="Shape 9"/>
          <p:cNvSpPr/>
          <p:nvPr/>
        </p:nvSpPr>
        <p:spPr>
          <a:xfrm>
            <a:off x="1554480" y="1389888"/>
            <a:ext cx="1152144" cy="2468880"/>
          </a:xfrm>
          <a:prstGeom prst="rect">
            <a:avLst/>
          </a:prstGeom>
          <a:solidFill>
            <a:srgbClr val="1A3A5A"/>
          </a:solidFill>
          <a:ln w="12700">
            <a:solidFill>
              <a:srgbClr val="263355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2" name="Text 10"/>
          <p:cNvSpPr/>
          <p:nvPr/>
        </p:nvSpPr>
        <p:spPr>
          <a:xfrm>
            <a:off x="1554480" y="1481328"/>
            <a:ext cx="1152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Conv2D (32)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54480" y="1938528"/>
            <a:ext cx="11521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</a:rPr>
              <a:t>3×3 · ReLU</a:t>
            </a:r>
          </a:p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</a:rPr>
              <a:t>+ MaxPool</a:t>
            </a:r>
          </a:p>
        </p:txBody>
      </p:sp>
      <p:sp>
        <p:nvSpPr>
          <p:cNvPr id="14" name="Text 12"/>
          <p:cNvSpPr/>
          <p:nvPr/>
        </p:nvSpPr>
        <p:spPr>
          <a:xfrm>
            <a:off x="1554480" y="2715768"/>
            <a:ext cx="1152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00C8E0"/>
                </a:solidFill>
              </a:rPr>
              <a:t>896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554480" y="3108960"/>
            <a:ext cx="11521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chemeClr val="bg1"/>
                </a:solidFill>
              </a:rPr>
              <a:t>params</a:t>
            </a:r>
          </a:p>
        </p:txBody>
      </p:sp>
      <p:sp>
        <p:nvSpPr>
          <p:cNvPr id="16" name="Shape 14"/>
          <p:cNvSpPr/>
          <p:nvPr/>
        </p:nvSpPr>
        <p:spPr>
          <a:xfrm>
            <a:off x="2715768" y="2624328"/>
            <a:ext cx="45720" cy="0"/>
          </a:xfrm>
          <a:prstGeom prst="line">
            <a:avLst/>
          </a:prstGeom>
          <a:noFill/>
          <a:ln w="1905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7" name="Shape 15"/>
          <p:cNvSpPr/>
          <p:nvPr/>
        </p:nvSpPr>
        <p:spPr>
          <a:xfrm>
            <a:off x="2761488" y="1389888"/>
            <a:ext cx="1152144" cy="2468880"/>
          </a:xfrm>
          <a:prstGeom prst="rect">
            <a:avLst/>
          </a:prstGeom>
          <a:solidFill>
            <a:srgbClr val="1A3A5A"/>
          </a:solidFill>
          <a:ln w="12700">
            <a:solidFill>
              <a:srgbClr val="263355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8" name="Text 16"/>
          <p:cNvSpPr/>
          <p:nvPr/>
        </p:nvSpPr>
        <p:spPr>
          <a:xfrm>
            <a:off x="2761488" y="1481328"/>
            <a:ext cx="1152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Conv2D (64)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61488" y="1938528"/>
            <a:ext cx="11521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</a:rPr>
              <a:t>3×3 · ReLU</a:t>
            </a:r>
          </a:p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</a:rPr>
              <a:t>+ MaxPool</a:t>
            </a:r>
          </a:p>
        </p:txBody>
      </p:sp>
      <p:sp>
        <p:nvSpPr>
          <p:cNvPr id="20" name="Text 18"/>
          <p:cNvSpPr/>
          <p:nvPr/>
        </p:nvSpPr>
        <p:spPr>
          <a:xfrm>
            <a:off x="2761488" y="2715768"/>
            <a:ext cx="1152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00C8E0"/>
                </a:solidFill>
              </a:rPr>
              <a:t>18 496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761488" y="3108960"/>
            <a:ext cx="11521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chemeClr val="bg1"/>
                </a:solidFill>
              </a:rPr>
              <a:t>params</a:t>
            </a:r>
          </a:p>
        </p:txBody>
      </p:sp>
      <p:sp>
        <p:nvSpPr>
          <p:cNvPr id="22" name="Shape 20"/>
          <p:cNvSpPr/>
          <p:nvPr/>
        </p:nvSpPr>
        <p:spPr>
          <a:xfrm>
            <a:off x="3922776" y="2624328"/>
            <a:ext cx="45720" cy="0"/>
          </a:xfrm>
          <a:prstGeom prst="line">
            <a:avLst/>
          </a:prstGeom>
          <a:noFill/>
          <a:ln w="1905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3" name="Shape 21"/>
          <p:cNvSpPr/>
          <p:nvPr/>
        </p:nvSpPr>
        <p:spPr>
          <a:xfrm>
            <a:off x="3968496" y="1389888"/>
            <a:ext cx="1152144" cy="2468880"/>
          </a:xfrm>
          <a:prstGeom prst="rect">
            <a:avLst/>
          </a:prstGeom>
          <a:solidFill>
            <a:srgbClr val="1A3A5A"/>
          </a:solidFill>
          <a:ln w="12700">
            <a:solidFill>
              <a:srgbClr val="263355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4" name="Text 22"/>
          <p:cNvSpPr/>
          <p:nvPr/>
        </p:nvSpPr>
        <p:spPr>
          <a:xfrm>
            <a:off x="3968496" y="1481328"/>
            <a:ext cx="1152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Conv2D(128)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968496" y="1938528"/>
            <a:ext cx="11521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</a:rPr>
              <a:t>3×3 · ReLU</a:t>
            </a:r>
          </a:p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</a:rPr>
              <a:t>+ MaxPool</a:t>
            </a:r>
          </a:p>
        </p:txBody>
      </p:sp>
      <p:sp>
        <p:nvSpPr>
          <p:cNvPr id="26" name="Text 24"/>
          <p:cNvSpPr/>
          <p:nvPr/>
        </p:nvSpPr>
        <p:spPr>
          <a:xfrm>
            <a:off x="3968496" y="2715768"/>
            <a:ext cx="1152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00C8E0"/>
                </a:solidFill>
              </a:rPr>
              <a:t>73 856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968496" y="3108960"/>
            <a:ext cx="11521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chemeClr val="bg1"/>
                </a:solidFill>
              </a:rPr>
              <a:t>params</a:t>
            </a:r>
          </a:p>
        </p:txBody>
      </p:sp>
      <p:sp>
        <p:nvSpPr>
          <p:cNvPr id="28" name="Shape 26"/>
          <p:cNvSpPr/>
          <p:nvPr/>
        </p:nvSpPr>
        <p:spPr>
          <a:xfrm>
            <a:off x="5129784" y="2624328"/>
            <a:ext cx="45720" cy="0"/>
          </a:xfrm>
          <a:prstGeom prst="line">
            <a:avLst/>
          </a:prstGeom>
          <a:noFill/>
          <a:ln w="1905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9" name="Shape 27"/>
          <p:cNvSpPr/>
          <p:nvPr/>
        </p:nvSpPr>
        <p:spPr>
          <a:xfrm>
            <a:off x="5175504" y="1389888"/>
            <a:ext cx="1152144" cy="2468880"/>
          </a:xfrm>
          <a:prstGeom prst="rect">
            <a:avLst/>
          </a:prstGeom>
          <a:solidFill>
            <a:srgbClr val="2A1A4A"/>
          </a:solidFill>
          <a:ln w="12700">
            <a:solidFill>
              <a:srgbClr val="263355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0" name="Text 28"/>
          <p:cNvSpPr/>
          <p:nvPr/>
        </p:nvSpPr>
        <p:spPr>
          <a:xfrm>
            <a:off x="5175504" y="1481328"/>
            <a:ext cx="1152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Flatten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75504" y="1938528"/>
            <a:ext cx="11521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</a:rPr>
              <a:t>→ 100 352</a:t>
            </a:r>
          </a:p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</a:rPr>
              <a:t>vector</a:t>
            </a:r>
          </a:p>
        </p:txBody>
      </p:sp>
      <p:sp>
        <p:nvSpPr>
          <p:cNvPr id="32" name="Text 30"/>
          <p:cNvSpPr/>
          <p:nvPr/>
        </p:nvSpPr>
        <p:spPr>
          <a:xfrm>
            <a:off x="5175504" y="2715768"/>
            <a:ext cx="1152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00C8E0"/>
                </a:solidFill>
              </a:rPr>
              <a:t>—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175504" y="3108960"/>
            <a:ext cx="11521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chemeClr val="bg1"/>
                </a:solidFill>
              </a:rPr>
              <a:t>params</a:t>
            </a:r>
          </a:p>
        </p:txBody>
      </p:sp>
      <p:sp>
        <p:nvSpPr>
          <p:cNvPr id="34" name="Shape 32"/>
          <p:cNvSpPr/>
          <p:nvPr/>
        </p:nvSpPr>
        <p:spPr>
          <a:xfrm>
            <a:off x="6336792" y="2624328"/>
            <a:ext cx="45720" cy="0"/>
          </a:xfrm>
          <a:prstGeom prst="line">
            <a:avLst/>
          </a:prstGeom>
          <a:noFill/>
          <a:ln w="1905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5" name="Shape 33"/>
          <p:cNvSpPr/>
          <p:nvPr/>
        </p:nvSpPr>
        <p:spPr>
          <a:xfrm>
            <a:off x="6382512" y="1389888"/>
            <a:ext cx="1152144" cy="2468880"/>
          </a:xfrm>
          <a:prstGeom prst="rect">
            <a:avLst/>
          </a:prstGeom>
          <a:solidFill>
            <a:srgbClr val="2A1A4A"/>
          </a:solidFill>
          <a:ln w="12700">
            <a:solidFill>
              <a:srgbClr val="263355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6" name="Text 34"/>
          <p:cNvSpPr/>
          <p:nvPr/>
        </p:nvSpPr>
        <p:spPr>
          <a:xfrm>
            <a:off x="6382512" y="1481328"/>
            <a:ext cx="1152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Dense (128)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82512" y="1938528"/>
            <a:ext cx="11521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</a:rPr>
              <a:t>ReLU</a:t>
            </a:r>
          </a:p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</a:rPr>
              <a:t>Dropout 0,2</a:t>
            </a:r>
          </a:p>
        </p:txBody>
      </p:sp>
      <p:sp>
        <p:nvSpPr>
          <p:cNvPr id="38" name="Text 36"/>
          <p:cNvSpPr/>
          <p:nvPr/>
        </p:nvSpPr>
        <p:spPr>
          <a:xfrm>
            <a:off x="6382512" y="2715768"/>
            <a:ext cx="1152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00C8E0"/>
                </a:solidFill>
              </a:rPr>
              <a:t>12 845 184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382512" y="3108960"/>
            <a:ext cx="11521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chemeClr val="bg1"/>
                </a:solidFill>
              </a:rPr>
              <a:t>params</a:t>
            </a:r>
          </a:p>
        </p:txBody>
      </p:sp>
      <p:sp>
        <p:nvSpPr>
          <p:cNvPr id="40" name="Shape 38"/>
          <p:cNvSpPr/>
          <p:nvPr/>
        </p:nvSpPr>
        <p:spPr>
          <a:xfrm>
            <a:off x="7543800" y="2624328"/>
            <a:ext cx="45720" cy="0"/>
          </a:xfrm>
          <a:prstGeom prst="line">
            <a:avLst/>
          </a:prstGeom>
          <a:noFill/>
          <a:ln w="1905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41" name="Shape 39"/>
          <p:cNvSpPr/>
          <p:nvPr/>
        </p:nvSpPr>
        <p:spPr>
          <a:xfrm>
            <a:off x="7589520" y="1389888"/>
            <a:ext cx="1152144" cy="2468880"/>
          </a:xfrm>
          <a:prstGeom prst="rect">
            <a:avLst/>
          </a:prstGeom>
          <a:solidFill>
            <a:srgbClr val="4A1A2A"/>
          </a:solidFill>
          <a:ln w="12700">
            <a:solidFill>
              <a:srgbClr val="263355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42" name="Text 40"/>
          <p:cNvSpPr/>
          <p:nvPr/>
        </p:nvSpPr>
        <p:spPr>
          <a:xfrm>
            <a:off x="7589520" y="1481328"/>
            <a:ext cx="1152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Output (53)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589520" y="1938528"/>
            <a:ext cx="11521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</a:rPr>
              <a:t>Softmax</a:t>
            </a:r>
          </a:p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</a:rPr>
              <a:t>53 tried</a:t>
            </a:r>
          </a:p>
        </p:txBody>
      </p:sp>
      <p:sp>
        <p:nvSpPr>
          <p:cNvPr id="44" name="Text 42"/>
          <p:cNvSpPr/>
          <p:nvPr/>
        </p:nvSpPr>
        <p:spPr>
          <a:xfrm>
            <a:off x="7589520" y="2715768"/>
            <a:ext cx="1152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00C8E0"/>
                </a:solidFill>
              </a:rPr>
              <a:t>6 837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589520" y="3108960"/>
            <a:ext cx="11521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chemeClr val="bg1"/>
                </a:solidFill>
              </a:rPr>
              <a:t>params</a:t>
            </a:r>
          </a:p>
        </p:txBody>
      </p:sp>
      <p:sp>
        <p:nvSpPr>
          <p:cNvPr id="46" name="Shape 44"/>
          <p:cNvSpPr/>
          <p:nvPr/>
        </p:nvSpPr>
        <p:spPr>
          <a:xfrm>
            <a:off x="411480" y="3986784"/>
            <a:ext cx="8321040" cy="896112"/>
          </a:xfrm>
          <a:prstGeom prst="rect">
            <a:avLst/>
          </a:prstGeom>
          <a:solidFill>
            <a:srgbClr val="18213A"/>
          </a:solidFill>
          <a:ln w="9525">
            <a:solidFill>
              <a:srgbClr val="263355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47" name="Shape 45"/>
          <p:cNvSpPr/>
          <p:nvPr/>
        </p:nvSpPr>
        <p:spPr>
          <a:xfrm>
            <a:off x="411480" y="3986784"/>
            <a:ext cx="64008" cy="896112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48" name="Text 46"/>
          <p:cNvSpPr/>
          <p:nvPr/>
        </p:nvSpPr>
        <p:spPr>
          <a:xfrm>
            <a:off x="566928" y="400507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E0"/>
                </a:solidFill>
              </a:rPr>
              <a:t>Kompilácia: </a:t>
            </a:r>
            <a:r>
              <a:rPr lang="en-US" sz="1000" dirty="0">
                <a:solidFill>
                  <a:srgbClr val="94A3B8"/>
                </a:solidFill>
              </a:rPr>
              <a:t>Optimalizátor Adam (lr=0,001)  ·  Loss: Sparse Categorical Crossentropy  ·  Metrika: Accuracy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66928" y="437083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</a:rPr>
              <a:t>Regularizácia: </a:t>
            </a:r>
            <a:r>
              <a:rPr lang="en-US" sz="1000" dirty="0">
                <a:solidFill>
                  <a:srgbClr val="94A3B8"/>
                </a:solidFill>
              </a:rPr>
              <a:t>Augmentácia  ·  Dropout 0,2 (nastaviteľný 0,1–0,4)  ·  EarlyStopping patience=3  ·  ModelCheckpoint (najlepší val_acc)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5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8E0"/>
                </a:solidFill>
              </a:rPr>
              <a:t>4. GUI APLIKÁCIA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Grafické rozhranie — 4 záložky, celý workflow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4160520" cy="1115568"/>
          </a:xfrm>
          <a:prstGeom prst="rect">
            <a:avLst/>
          </a:prstGeom>
          <a:solidFill>
            <a:srgbClr val="18213A"/>
          </a:solidFill>
          <a:ln w="9525">
            <a:solidFill>
              <a:srgbClr val="263355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4160520" cy="64008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00C8E0"/>
                </a:solidFill>
              </a:rPr>
              <a:t>Záložka 1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48640" y="170992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Log a výsledky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02082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Priebeh tréningu po epoche · presnosť a loss · zhrnutie po dokončení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73168" y="1417320"/>
            <a:ext cx="4160520" cy="1115568"/>
          </a:xfrm>
          <a:prstGeom prst="rect">
            <a:avLst/>
          </a:prstGeom>
          <a:solidFill>
            <a:srgbClr val="18213A"/>
          </a:solidFill>
          <a:ln w="9525">
            <a:solidFill>
              <a:srgbClr val="263355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1" name="Shape 9"/>
          <p:cNvSpPr/>
          <p:nvPr/>
        </p:nvSpPr>
        <p:spPr>
          <a:xfrm>
            <a:off x="4773168" y="1417320"/>
            <a:ext cx="4160520" cy="64008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2" name="Text 10"/>
          <p:cNvSpPr/>
          <p:nvPr/>
        </p:nvSpPr>
        <p:spPr>
          <a:xfrm>
            <a:off x="4910328" y="150876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00C8E0"/>
                </a:solidFill>
              </a:rPr>
              <a:t>Záložka 2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910328" y="170992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Grafy tréningu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10328" y="202082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Accuracy graf + Loss graf (Matplotlib inline) · ukladané ako PNG · načítané pri štarte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2679192"/>
            <a:ext cx="4160520" cy="1115568"/>
          </a:xfrm>
          <a:prstGeom prst="rect">
            <a:avLst/>
          </a:prstGeom>
          <a:solidFill>
            <a:srgbClr val="18213A"/>
          </a:solidFill>
          <a:ln w="9525">
            <a:solidFill>
              <a:srgbClr val="263355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6" name="Shape 14"/>
          <p:cNvSpPr/>
          <p:nvPr/>
        </p:nvSpPr>
        <p:spPr>
          <a:xfrm>
            <a:off x="411480" y="2679192"/>
            <a:ext cx="416052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7" name="Text 15"/>
          <p:cNvSpPr/>
          <p:nvPr/>
        </p:nvSpPr>
        <p:spPr>
          <a:xfrm>
            <a:off x="548640" y="277063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8B5CF6"/>
                </a:solidFill>
              </a:rPr>
              <a:t>Záložka 3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48640" y="297180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Confusion matrix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3282696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Normalizovaná matica zámen pre 53 tried · viditeľné vzory chýb medzi farebnými variantmi kariet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73168" y="2679192"/>
            <a:ext cx="4160520" cy="1115568"/>
          </a:xfrm>
          <a:prstGeom prst="rect">
            <a:avLst/>
          </a:prstGeom>
          <a:solidFill>
            <a:srgbClr val="18213A"/>
          </a:solidFill>
          <a:ln w="9525">
            <a:solidFill>
              <a:srgbClr val="263355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1" name="Shape 19"/>
          <p:cNvSpPr/>
          <p:nvPr/>
        </p:nvSpPr>
        <p:spPr>
          <a:xfrm>
            <a:off x="4773168" y="2679192"/>
            <a:ext cx="416052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2" name="Text 20"/>
          <p:cNvSpPr/>
          <p:nvPr/>
        </p:nvSpPr>
        <p:spPr>
          <a:xfrm>
            <a:off x="4910328" y="277063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10B981"/>
                </a:solidFill>
              </a:rPr>
              <a:t>Záložka 4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910328" y="297180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Precision / Recall / F1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10328" y="3282696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Makro-priemerné metriky · stĺpcový graf · P=81 % · R=76 % · F1=76 %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1480" y="4005072"/>
            <a:ext cx="1938528" cy="987552"/>
          </a:xfrm>
          <a:prstGeom prst="rect">
            <a:avLst/>
          </a:prstGeom>
          <a:solidFill>
            <a:srgbClr val="0D1A2E"/>
          </a:solidFill>
          <a:ln w="9525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6" name="Text 24"/>
          <p:cNvSpPr/>
          <p:nvPr/>
        </p:nvSpPr>
        <p:spPr>
          <a:xfrm>
            <a:off x="411480" y="4041648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E0"/>
                </a:solidFill>
              </a:rPr>
              <a:t>Threading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" y="4315968"/>
            <a:ext cx="19385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tréning na pozadí,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GUI nespomalí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496312" y="4005072"/>
            <a:ext cx="1938528" cy="987552"/>
          </a:xfrm>
          <a:prstGeom prst="rect">
            <a:avLst/>
          </a:prstGeom>
          <a:solidFill>
            <a:srgbClr val="0D1A2E"/>
          </a:solidFill>
          <a:ln w="9525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9" name="Text 27"/>
          <p:cNvSpPr/>
          <p:nvPr/>
        </p:nvSpPr>
        <p:spPr>
          <a:xfrm>
            <a:off x="2496312" y="4041648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E0"/>
                </a:solidFill>
              </a:rPr>
              <a:t>EarlyStopping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496312" y="4315968"/>
            <a:ext cx="19385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automatické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zastavenie tréningu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81144" y="4005072"/>
            <a:ext cx="1938528" cy="987552"/>
          </a:xfrm>
          <a:prstGeom prst="rect">
            <a:avLst/>
          </a:prstGeom>
          <a:solidFill>
            <a:srgbClr val="0D1A2E"/>
          </a:solidFill>
          <a:ln w="9525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2" name="Text 30"/>
          <p:cNvSpPr/>
          <p:nvPr/>
        </p:nvSpPr>
        <p:spPr>
          <a:xfrm>
            <a:off x="4581144" y="4041648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E0"/>
                </a:solidFill>
              </a:rPr>
              <a:t>ModelCheckpoint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81144" y="4315968"/>
            <a:ext cx="19385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ukladá model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s najlepším val_acc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665976" y="4005072"/>
            <a:ext cx="1938528" cy="987552"/>
          </a:xfrm>
          <a:prstGeom prst="rect">
            <a:avLst/>
          </a:prstGeom>
          <a:solidFill>
            <a:srgbClr val="0D1A2E"/>
          </a:solidFill>
          <a:ln w="9525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5" name="Text 33"/>
          <p:cNvSpPr/>
          <p:nvPr/>
        </p:nvSpPr>
        <p:spPr>
          <a:xfrm>
            <a:off x="6665976" y="4041648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E0"/>
                </a:solidFill>
              </a:rPr>
              <a:t>STOP tlačidlo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665976" y="4315968"/>
            <a:ext cx="19385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bezpečné prerušenie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kdykoľvek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5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8E0"/>
                </a:solidFill>
              </a:rPr>
              <a:t>4. VÝSLEDKY TRÉNINGU — REÁLNE HODNOTY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Dosiahnuté výsledky — všetky KPI splnené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1938528" cy="1600200"/>
          </a:xfrm>
          <a:prstGeom prst="rect">
            <a:avLst/>
          </a:prstGeom>
          <a:solidFill>
            <a:srgbClr val="18213A"/>
          </a:solidFill>
          <a:ln w="254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6" name="Text 4"/>
          <p:cNvSpPr/>
          <p:nvPr/>
        </p:nvSpPr>
        <p:spPr>
          <a:xfrm>
            <a:off x="411480" y="1481328"/>
            <a:ext cx="19385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8E0"/>
                </a:solidFill>
              </a:rPr>
              <a:t>81,13 %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11480" y="2194560"/>
            <a:ext cx="19385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Test Accuracy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2523744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KPI ≥ 80 % ✓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96312" y="1417320"/>
            <a:ext cx="1938528" cy="1600200"/>
          </a:xfrm>
          <a:prstGeom prst="rect">
            <a:avLst/>
          </a:prstGeom>
          <a:solidFill>
            <a:srgbClr val="18213A"/>
          </a:solidFill>
          <a:ln w="254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0" name="Text 8"/>
          <p:cNvSpPr/>
          <p:nvPr/>
        </p:nvSpPr>
        <p:spPr>
          <a:xfrm>
            <a:off x="2496312" y="1481328"/>
            <a:ext cx="19385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8B5CF6"/>
                </a:solidFill>
              </a:rPr>
              <a:t>81 %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496312" y="2194560"/>
            <a:ext cx="19385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Precision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496312" y="2523744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makro-priemer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81144" y="1417320"/>
            <a:ext cx="1938528" cy="1600200"/>
          </a:xfrm>
          <a:prstGeom prst="rect">
            <a:avLst/>
          </a:prstGeom>
          <a:solidFill>
            <a:srgbClr val="18213A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4" name="Text 12"/>
          <p:cNvSpPr/>
          <p:nvPr/>
        </p:nvSpPr>
        <p:spPr>
          <a:xfrm>
            <a:off x="4581144" y="1481328"/>
            <a:ext cx="19385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0B981"/>
                </a:solidFill>
              </a:rPr>
              <a:t>76 %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581144" y="2194560"/>
            <a:ext cx="19385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Recall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81144" y="2523744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makro-priemer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665976" y="1417320"/>
            <a:ext cx="1938528" cy="1600200"/>
          </a:xfrm>
          <a:prstGeom prst="rect">
            <a:avLst/>
          </a:prstGeom>
          <a:solidFill>
            <a:srgbClr val="18213A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8" name="Text 16"/>
          <p:cNvSpPr/>
          <p:nvPr/>
        </p:nvSpPr>
        <p:spPr>
          <a:xfrm>
            <a:off x="6665976" y="1481328"/>
            <a:ext cx="19385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</a:rPr>
              <a:t>76 %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665976" y="2194560"/>
            <a:ext cx="19385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F1-score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665976" y="2523744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makro-priemer</a:t>
            </a:r>
            <a:endParaRPr lang="en-US" sz="85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411480" y="3127248"/>
          <a:ext cx="832104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5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8E0"/>
                </a:solidFill>
              </a:rPr>
              <a:t>5. ZHRNUTIE A ODPORÚČANIA PRE ĎALŠÍ ROZVOJ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Čo sme splnili — a kam ísť ďalej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408176"/>
            <a:ext cx="4069080" cy="329184"/>
          </a:xfrm>
          <a:prstGeom prst="rect">
            <a:avLst/>
          </a:prstGeom>
          <a:solidFill>
            <a:srgbClr val="0A2A1A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6" name="Text 4"/>
          <p:cNvSpPr/>
          <p:nvPr/>
        </p:nvSpPr>
        <p:spPr>
          <a:xfrm>
            <a:off x="548640" y="1408176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  Splnené ciele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810512"/>
            <a:ext cx="4069080" cy="548640"/>
          </a:xfrm>
          <a:prstGeom prst="rect">
            <a:avLst/>
          </a:prstGeom>
          <a:solidFill>
            <a:srgbClr val="18213A"/>
          </a:solidFill>
          <a:ln w="6350">
            <a:solidFill>
              <a:srgbClr val="263355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8" name="Shape 6"/>
          <p:cNvSpPr/>
          <p:nvPr/>
        </p:nvSpPr>
        <p:spPr>
          <a:xfrm>
            <a:off x="411480" y="1810512"/>
            <a:ext cx="64008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9" name="Text 7"/>
          <p:cNvSpPr/>
          <p:nvPr/>
        </p:nvSpPr>
        <p:spPr>
          <a:xfrm>
            <a:off x="566928" y="1828800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Test accuracy 81,13 % — KPI ≥ 80 % prekročené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432304"/>
            <a:ext cx="4069080" cy="548640"/>
          </a:xfrm>
          <a:prstGeom prst="rect">
            <a:avLst/>
          </a:prstGeom>
          <a:solidFill>
            <a:srgbClr val="1E2B47"/>
          </a:solidFill>
          <a:ln w="6350">
            <a:solidFill>
              <a:srgbClr val="263355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1" name="Shape 9"/>
          <p:cNvSpPr/>
          <p:nvPr/>
        </p:nvSpPr>
        <p:spPr>
          <a:xfrm>
            <a:off x="411480" y="2432304"/>
            <a:ext cx="64008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2" name="Text 10"/>
          <p:cNvSpPr/>
          <p:nvPr/>
        </p:nvSpPr>
        <p:spPr>
          <a:xfrm>
            <a:off x="566928" y="2450592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Čas inferencie &lt; 0,1 s — KPI &lt; 2 s výrazne prekonaný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3054096"/>
            <a:ext cx="4069080" cy="548640"/>
          </a:xfrm>
          <a:prstGeom prst="rect">
            <a:avLst/>
          </a:prstGeom>
          <a:solidFill>
            <a:srgbClr val="18213A"/>
          </a:solidFill>
          <a:ln w="6350">
            <a:solidFill>
              <a:srgbClr val="263355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4" name="Shape 12"/>
          <p:cNvSpPr/>
          <p:nvPr/>
        </p:nvSpPr>
        <p:spPr>
          <a:xfrm>
            <a:off x="411480" y="3054096"/>
            <a:ext cx="64008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5" name="Text 13"/>
          <p:cNvSpPr/>
          <p:nvPr/>
        </p:nvSpPr>
        <p:spPr>
          <a:xfrm>
            <a:off x="566928" y="3072384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GUI bez programovania — 1 kliknutie spustí celý pipeline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3675888"/>
            <a:ext cx="4069080" cy="548640"/>
          </a:xfrm>
          <a:prstGeom prst="rect">
            <a:avLst/>
          </a:prstGeom>
          <a:solidFill>
            <a:srgbClr val="1E2B47"/>
          </a:solidFill>
          <a:ln w="6350">
            <a:solidFill>
              <a:srgbClr val="263355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7" name="Shape 15"/>
          <p:cNvSpPr/>
          <p:nvPr/>
        </p:nvSpPr>
        <p:spPr>
          <a:xfrm>
            <a:off x="411480" y="3675888"/>
            <a:ext cx="64008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8" name="Text 16"/>
          <p:cNvSpPr/>
          <p:nvPr/>
        </p:nvSpPr>
        <p:spPr>
          <a:xfrm>
            <a:off x="566928" y="3694176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Reprodukovateľné — overené na Windows a Linux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4297680"/>
            <a:ext cx="4069080" cy="548640"/>
          </a:xfrm>
          <a:prstGeom prst="rect">
            <a:avLst/>
          </a:prstGeom>
          <a:solidFill>
            <a:srgbClr val="18213A"/>
          </a:solidFill>
          <a:ln w="6350">
            <a:solidFill>
              <a:srgbClr val="263355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0" name="Shape 18"/>
          <p:cNvSpPr/>
          <p:nvPr/>
        </p:nvSpPr>
        <p:spPr>
          <a:xfrm>
            <a:off x="411480" y="4297680"/>
            <a:ext cx="64008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1" name="Text 19"/>
          <p:cNvSpPr/>
          <p:nvPr/>
        </p:nvSpPr>
        <p:spPr>
          <a:xfrm>
            <a:off x="566928" y="4315968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Precision 81 % · Recall 76 % · F1-score 76 %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1408176"/>
            <a:ext cx="4069080" cy="329184"/>
          </a:xfrm>
          <a:prstGeom prst="rect">
            <a:avLst/>
          </a:prstGeom>
          <a:solidFill>
            <a:srgbClr val="0A1A2A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3" name="Text 21"/>
          <p:cNvSpPr/>
          <p:nvPr/>
        </p:nvSpPr>
        <p:spPr>
          <a:xfrm>
            <a:off x="4800600" y="1408176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E0"/>
                </a:solidFill>
              </a:rPr>
              <a:t>→  Odporúčania pre ďalší rozvoj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1828800"/>
            <a:ext cx="4069080" cy="713232"/>
          </a:xfrm>
          <a:prstGeom prst="rect">
            <a:avLst/>
          </a:prstGeom>
          <a:solidFill>
            <a:srgbClr val="18213A"/>
          </a:solidFill>
          <a:ln w="9525">
            <a:solidFill>
              <a:srgbClr val="263355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5" name="Shape 23"/>
          <p:cNvSpPr/>
          <p:nvPr/>
        </p:nvSpPr>
        <p:spPr>
          <a:xfrm>
            <a:off x="4663440" y="1828800"/>
            <a:ext cx="64008" cy="713232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6" name="Text 24"/>
          <p:cNvSpPr/>
          <p:nvPr/>
        </p:nvSpPr>
        <p:spPr>
          <a:xfrm>
            <a:off x="4800600" y="1883664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Transfer learning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00600" y="2157984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EfficientNetB0, MobileNetV3, ResNet50 — fine-tuning na ImageNet váhach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2633472"/>
            <a:ext cx="4069080" cy="713232"/>
          </a:xfrm>
          <a:prstGeom prst="rect">
            <a:avLst/>
          </a:prstGeom>
          <a:solidFill>
            <a:srgbClr val="18213A"/>
          </a:solidFill>
          <a:ln w="9525">
            <a:solidFill>
              <a:srgbClr val="263355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9" name="Shape 27"/>
          <p:cNvSpPr/>
          <p:nvPr/>
        </p:nvSpPr>
        <p:spPr>
          <a:xfrm>
            <a:off x="4663440" y="2633472"/>
            <a:ext cx="64008" cy="713232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0" name="Text 28"/>
          <p:cNvSpPr/>
          <p:nvPr/>
        </p:nvSpPr>
        <p:spPr>
          <a:xfrm>
            <a:off x="4800600" y="2688336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Webkamera v reálnom čase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00600" y="2962656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Klasifikácia live vstupu cez OpenCV — zvýši atraktivitu demonštrácie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3438144"/>
            <a:ext cx="4069080" cy="713232"/>
          </a:xfrm>
          <a:prstGeom prst="rect">
            <a:avLst/>
          </a:prstGeom>
          <a:solidFill>
            <a:srgbClr val="18213A"/>
          </a:solidFill>
          <a:ln w="9525">
            <a:solidFill>
              <a:srgbClr val="263355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3" name="Shape 31"/>
          <p:cNvSpPr/>
          <p:nvPr/>
        </p:nvSpPr>
        <p:spPr>
          <a:xfrm>
            <a:off x="4663440" y="3438144"/>
            <a:ext cx="64008" cy="713232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4" name="Text 32"/>
          <p:cNvSpPr/>
          <p:nvPr/>
        </p:nvSpPr>
        <p:spPr>
          <a:xfrm>
            <a:off x="4800600" y="349300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Grad-CAM vizualizácia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00600" y="3767328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Heatmap oblastí rozhodnutia — ukáže, čo model skutočne vidí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4242816"/>
            <a:ext cx="4069080" cy="713232"/>
          </a:xfrm>
          <a:prstGeom prst="rect">
            <a:avLst/>
          </a:prstGeom>
          <a:solidFill>
            <a:srgbClr val="18213A"/>
          </a:solidFill>
          <a:ln w="9525">
            <a:solidFill>
              <a:srgbClr val="263355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7" name="Shape 35"/>
          <p:cNvSpPr/>
          <p:nvPr/>
        </p:nvSpPr>
        <p:spPr>
          <a:xfrm>
            <a:off x="4663440" y="4242816"/>
            <a:ext cx="64008" cy="713232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8" name="Text 36"/>
          <p:cNvSpPr/>
          <p:nvPr/>
        </p:nvSpPr>
        <p:spPr>
          <a:xfrm>
            <a:off x="4800600" y="4297680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Export do CSV + web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800600" y="4572000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Flask/FastAPI backend · bez lokálnej inštalácie · porovnanie modelov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5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0"/>
            <a:ext cx="2468880" cy="5143500"/>
          </a:xfrm>
          <a:prstGeom prst="rect">
            <a:avLst/>
          </a:prstGeom>
          <a:solidFill>
            <a:srgbClr val="18213A"/>
          </a:solidFill>
          <a:ln w="12700">
            <a:solidFill>
              <a:srgbClr val="18213A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" name="Shape 1"/>
          <p:cNvSpPr/>
          <p:nvPr/>
        </p:nvSpPr>
        <p:spPr>
          <a:xfrm>
            <a:off x="8321040" y="0"/>
            <a:ext cx="822960" cy="5143500"/>
          </a:xfrm>
          <a:prstGeom prst="rect">
            <a:avLst/>
          </a:prstGeom>
          <a:solidFill>
            <a:srgbClr val="1E2B47"/>
          </a:solidFill>
          <a:ln w="12700">
            <a:solidFill>
              <a:srgbClr val="1E2B47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5" name="Text 3"/>
          <p:cNvSpPr/>
          <p:nvPr/>
        </p:nvSpPr>
        <p:spPr>
          <a:xfrm>
            <a:off x="6858000" y="731520"/>
            <a:ext cx="1463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1E3A5F"/>
                </a:solidFill>
              </a:rPr>
              <a:t>♠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858000" y="2651760"/>
            <a:ext cx="1463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2A1A3A"/>
                </a:solidFill>
              </a:rPr>
              <a:t>♦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Ďakujem za pozornosť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457199" y="2212847"/>
            <a:ext cx="4630057" cy="45719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94A3B8"/>
                </a:solidFill>
              </a:rPr>
              <a:t>Vývoj aplikácie na rozpoznávanie hracích kariet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94A3B8"/>
                </a:solidFill>
              </a:rPr>
              <a:t>pomocou konvolučných neurónových sietí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318211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Mgr. Ing. Ondrej Jelenovič, MBA</a:t>
            </a:r>
            <a:r>
              <a:rPr lang="en-US" sz="1100" dirty="0">
                <a:solidFill>
                  <a:srgbClr val="94A3B8"/>
                </a:solidFill>
              </a:rPr>
              <a:t>   ·   MSc Umelá Inteligencia a ML   ·   VITA ACADEMY   · 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</TotalTime>
  <Words>1257</Words>
  <Application>Microsoft Office PowerPoint</Application>
  <PresentationFormat>Prezentácia na obrazovke (16:9)</PresentationFormat>
  <Paragraphs>291</Paragraphs>
  <Slides>13</Slides>
  <Notes>13</Notes>
  <HiddenSlides>0</HiddenSlides>
  <MMClips>0</MMClips>
  <ScaleCrop>false</ScaleCrop>
  <HeadingPairs>
    <vt:vector size="6" baseType="variant">
      <vt:variant>
        <vt:lpstr>Použité písma</vt:lpstr>
      </vt:variant>
      <vt:variant>
        <vt:i4>2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Rozpoznávanie hracích kariet pomocou CNN</dc:title>
  <dc:subject/>
  <dc:creator>Mgr. Ing. Ondrej Jelenovič, MBA</dc:creator>
  <cp:lastModifiedBy>Jelenovič Ondrej</cp:lastModifiedBy>
  <cp:revision>21</cp:revision>
  <dcterms:created xsi:type="dcterms:W3CDTF">2026-05-08T10:44:49Z</dcterms:created>
  <dcterms:modified xsi:type="dcterms:W3CDTF">2026-05-15T14:41:12Z</dcterms:modified>
</cp:coreProperties>
</file>